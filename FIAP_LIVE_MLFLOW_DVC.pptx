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12B"/>
    <a:srgbClr val="EE1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/>
    <p:restoredTop sz="76178"/>
  </p:normalViewPr>
  <p:slideViewPr>
    <p:cSldViewPr snapToGrid="0">
      <p:cViewPr varScale="1">
        <p:scale>
          <a:sx n="113" d="100"/>
          <a:sy n="113" d="100"/>
        </p:scale>
        <p:origin x="1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15D08-3854-854C-8020-63F55F7301E5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A757-E36B-4742-A6CD-DA60701CC35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1959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BR" dirty="0"/>
              <a:t>Uma ideia/necessidade surge na área de negócios</a:t>
            </a:r>
          </a:p>
          <a:p>
            <a:pPr marL="171450" indent="-171450">
              <a:buFontTx/>
              <a:buChar char="-"/>
            </a:pPr>
            <a:r>
              <a:rPr lang="en-BR" dirty="0"/>
              <a:t>Uma pessoa da área de dados entende o problema</a:t>
            </a:r>
          </a:p>
          <a:p>
            <a:pPr marL="171450" indent="-171450">
              <a:buFontTx/>
              <a:buChar char="-"/>
            </a:pPr>
            <a:r>
              <a:rPr lang="en-BR" dirty="0"/>
              <a:t>Começam a explorar e entender os processos através dos dados</a:t>
            </a:r>
          </a:p>
          <a:p>
            <a:pPr marL="171450" indent="-171450">
              <a:buFontTx/>
              <a:buChar char="-"/>
            </a:pPr>
            <a:r>
              <a:rPr lang="en-BR" dirty="0"/>
              <a:t>Depois que os dados são explorados, analisados o modelo é construído e pode ser “empacotado” para virar uma solução pro negócio</a:t>
            </a:r>
          </a:p>
          <a:p>
            <a:pPr marL="171450" indent="-171450">
              <a:buFontTx/>
              <a:buChar char="-"/>
            </a:pPr>
            <a:r>
              <a:rPr lang="en-BR" dirty="0"/>
              <a:t>-------------------------------------------------------------------------------------------------------------------------------------------------------------------------------------------</a:t>
            </a:r>
          </a:p>
          <a:p>
            <a:pPr marL="171450" indent="-171450">
              <a:buFontTx/>
              <a:buChar char="-"/>
            </a:pPr>
            <a:r>
              <a:rPr lang="en-BR" dirty="0"/>
              <a:t>Em todas as etapas da construção de um modelo usamos código, para isso versionamos todas as mudanças através do Git.</a:t>
            </a:r>
          </a:p>
          <a:p>
            <a:pPr marL="171450" indent="-171450">
              <a:buFontTx/>
              <a:buChar char="-"/>
            </a:pPr>
            <a:r>
              <a:rPr lang="en-BR" dirty="0"/>
              <a:t>Faz sentido trabalharmos com versionamento dos modelos?</a:t>
            </a:r>
          </a:p>
          <a:p>
            <a:pPr marL="171450" indent="-171450">
              <a:buFontTx/>
              <a:buChar char="-"/>
            </a:pPr>
            <a:r>
              <a:rPr lang="en-BR" dirty="0"/>
              <a:t>Faz sentido trabalharmos com o versionamento dos dados usados para treinar o modelo?</a:t>
            </a:r>
          </a:p>
          <a:p>
            <a:pPr marL="171450" indent="-171450">
              <a:buFontTx/>
              <a:buChar char="-"/>
            </a:pPr>
            <a:endParaRPr lang="en-BR" dirty="0"/>
          </a:p>
          <a:p>
            <a:pPr marL="171450" indent="-171450">
              <a:buFontTx/>
              <a:buChar char="-"/>
            </a:pP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31545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22018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</a:t>
            </a:r>
            <a:r>
              <a:rPr lang="en-BR" dirty="0"/>
              <a:t> grande utilidade do controle de versões é EVITAR CONFUSÃO</a:t>
            </a:r>
          </a:p>
          <a:p>
            <a:pPr marL="171450" indent="-171450">
              <a:buFontTx/>
              <a:buChar char="-"/>
            </a:pPr>
            <a:r>
              <a:rPr lang="en-BR" dirty="0"/>
              <a:t>Permite o rastreamento de TODAS as mudanças realizadas no projeto</a:t>
            </a:r>
          </a:p>
          <a:p>
            <a:pPr marL="171450" indent="-171450">
              <a:buFontTx/>
              <a:buChar char="-"/>
            </a:pPr>
            <a:r>
              <a:rPr lang="en-BR" dirty="0"/>
              <a:t>Permite entender com facilidade a diferença de conteúdo entre duas releases de um software, modelo, aplicação</a:t>
            </a:r>
          </a:p>
          <a:p>
            <a:pPr marL="171450" indent="-171450">
              <a:buFontTx/>
              <a:buChar char="-"/>
            </a:pPr>
            <a:r>
              <a:rPr lang="en-BR" dirty="0"/>
              <a:t>Permite uma visão histórica de quando as coisas aconteceram e comparar com a versão atual</a:t>
            </a:r>
          </a:p>
          <a:p>
            <a:pPr marL="171450" indent="-171450">
              <a:buFontTx/>
              <a:buChar char="-"/>
            </a:pP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98283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0634-CA49-4861-A2C9-D93DF4ED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492B1-CECD-E38F-B281-8F166C16F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1492C-3E16-1CB0-A65B-3A725CE02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b="1" noProof="0" dirty="0"/>
              <a:t>cache</a:t>
            </a:r>
            <a:r>
              <a:rPr lang="pt-BR" noProof="0" dirty="0"/>
              <a:t> é uma área local onde o DVC guarda fisicamente os arquivos </a:t>
            </a:r>
            <a:r>
              <a:rPr lang="pt-BR" noProof="0" dirty="0" err="1"/>
              <a:t>versionados</a:t>
            </a:r>
            <a:endParaRPr lang="pt-BR" noProof="0" dirty="0"/>
          </a:p>
          <a:p>
            <a:pPr marL="171450" indent="-171450">
              <a:buFontTx/>
              <a:buChar char="-"/>
            </a:pPr>
            <a:r>
              <a:rPr lang="pt-BR" noProof="0" dirty="0" err="1"/>
              <a:t>Dvc</a:t>
            </a:r>
            <a:r>
              <a:rPr lang="pt-BR" noProof="0" dirty="0"/>
              <a:t> </a:t>
            </a:r>
            <a:r>
              <a:rPr lang="pt-BR" noProof="0" dirty="0" err="1"/>
              <a:t>add</a:t>
            </a:r>
            <a:r>
              <a:rPr lang="pt-BR" noProof="0" dirty="0"/>
              <a:t> </a:t>
            </a:r>
            <a:r>
              <a:rPr lang="en-US" dirty="0" err="1"/>
              <a:t>faz</a:t>
            </a:r>
            <a:r>
              <a:rPr lang="en-US" dirty="0"/>
              <a:t> com que o DVC passe a </a:t>
            </a:r>
            <a:r>
              <a:rPr lang="en-US" b="1" dirty="0" err="1"/>
              <a:t>controlar</a:t>
            </a:r>
            <a:r>
              <a:rPr lang="en-US" b="1" dirty="0"/>
              <a:t>/</a:t>
            </a:r>
            <a:r>
              <a:rPr lang="en-US" b="1" dirty="0" err="1"/>
              <a:t>versionar</a:t>
            </a:r>
            <a:r>
              <a:rPr lang="en-US" b="1" dirty="0"/>
              <a:t> </a:t>
            </a:r>
            <a:r>
              <a:rPr lang="en-US" b="1" dirty="0" err="1"/>
              <a:t>aquele</a:t>
            </a:r>
            <a:r>
              <a:rPr lang="en-US" b="1" dirty="0"/>
              <a:t> </a:t>
            </a:r>
            <a:r>
              <a:rPr lang="en-US" b="1" dirty="0" err="1"/>
              <a:t>arquivo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pasta</a:t>
            </a:r>
            <a:r>
              <a:rPr lang="en-US" dirty="0"/>
              <a:t>, mas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colocar</a:t>
            </a:r>
            <a:r>
              <a:rPr lang="en-US" dirty="0"/>
              <a:t> o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Git.</a:t>
            </a:r>
            <a:endParaRPr lang="pt-BR" noProof="0" dirty="0"/>
          </a:p>
          <a:p>
            <a:pPr marL="171450" indent="-171450">
              <a:buFontTx/>
              <a:buChar char="-"/>
            </a:pPr>
            <a:r>
              <a:rPr lang="pt-BR" noProof="0" dirty="0"/>
              <a:t>Vantagens de usar DVC no projeto: </a:t>
            </a:r>
          </a:p>
          <a:p>
            <a:pPr marL="628650" lvl="1" indent="-171450">
              <a:buFontTx/>
              <a:buChar char="-"/>
            </a:pPr>
            <a:r>
              <a:rPr lang="pt-BR" noProof="0" dirty="0"/>
              <a:t>Rastreabilidade de todas as mudanças em todos os artefatos</a:t>
            </a:r>
          </a:p>
          <a:p>
            <a:pPr marL="628650" lvl="1" indent="-171450">
              <a:buFontTx/>
              <a:buChar char="-"/>
            </a:pPr>
            <a:r>
              <a:rPr lang="pt-BR" noProof="0" dirty="0"/>
              <a:t>Possibilidade de voltar para alguma versão X ou </a:t>
            </a:r>
            <a:r>
              <a:rPr lang="pt-BR" noProof="0" dirty="0" err="1"/>
              <a:t>Y</a:t>
            </a:r>
            <a:r>
              <a:rPr lang="pt-BR" noProof="0" dirty="0"/>
              <a:t> do projeto</a:t>
            </a:r>
          </a:p>
          <a:p>
            <a:pPr marL="628650" lvl="1" indent="-171450">
              <a:buFontTx/>
              <a:buChar char="-"/>
            </a:pPr>
            <a:r>
              <a:rPr lang="pt-BR" noProof="0" dirty="0"/>
              <a:t>Funciona como uma única fonte da verdade para os </a:t>
            </a:r>
            <a:r>
              <a:rPr lang="pt-BR" noProof="0" dirty="0" err="1"/>
              <a:t>assets</a:t>
            </a:r>
            <a:r>
              <a:rPr lang="pt-BR" noProof="0" dirty="0"/>
              <a:t> do projeto</a:t>
            </a:r>
          </a:p>
          <a:p>
            <a:pPr marL="628650" lvl="1" indent="-171450">
              <a:buFontTx/>
              <a:buChar char="-"/>
            </a:pPr>
            <a:r>
              <a:rPr lang="pt-BR" noProof="0" dirty="0"/>
              <a:t>Comandos extremamente parecidos com </a:t>
            </a:r>
            <a:r>
              <a:rPr lang="pt-BR" noProof="0" dirty="0" err="1"/>
              <a:t>git</a:t>
            </a:r>
            <a:r>
              <a:rPr lang="pt-BR" noProof="0" dirty="0"/>
              <a:t>: </a:t>
            </a:r>
            <a:r>
              <a:rPr lang="pt-BR" noProof="0" dirty="0" err="1"/>
              <a:t>push</a:t>
            </a:r>
            <a:r>
              <a:rPr lang="pt-BR" noProof="0" dirty="0"/>
              <a:t>, </a:t>
            </a:r>
            <a:r>
              <a:rPr lang="pt-BR" noProof="0" dirty="0" err="1"/>
              <a:t>add</a:t>
            </a:r>
            <a:r>
              <a:rPr lang="pt-BR" noProof="0" dirty="0"/>
              <a:t>, </a:t>
            </a:r>
            <a:r>
              <a:rPr lang="pt-BR" noProof="0" dirty="0" err="1"/>
              <a:t>init</a:t>
            </a:r>
            <a:r>
              <a:rPr lang="pt-BR" noProof="0" dirty="0"/>
              <a:t>, status</a:t>
            </a:r>
          </a:p>
          <a:p>
            <a:pPr marL="628650" lvl="1" indent="-171450">
              <a:buFontTx/>
              <a:buChar char="-"/>
            </a:pPr>
            <a:r>
              <a:rPr lang="pt-BR" noProof="0" dirty="0"/>
              <a:t>Permite que </a:t>
            </a:r>
            <a:r>
              <a:rPr lang="pt-BR" noProof="0" dirty="0" err="1"/>
              <a:t>vc</a:t>
            </a:r>
            <a:r>
              <a:rPr lang="pt-BR" noProof="0" dirty="0"/>
              <a:t> capture a versão dos dados usada para treinar uma versão específica do modelo</a:t>
            </a:r>
          </a:p>
          <a:p>
            <a:pPr marL="628650" lvl="1" indent="-171450">
              <a:buFontTx/>
              <a:buChar char="-"/>
            </a:pPr>
            <a:endParaRPr lang="pt-BR" noProof="0" dirty="0"/>
          </a:p>
          <a:p>
            <a:pPr marL="628650" lvl="1" indent="-171450">
              <a:buFontTx/>
              <a:buChar char="-"/>
            </a:pP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02FA-821F-37FA-8F68-7C10CF5A0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72715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73FE-89A0-9460-72B5-ED4A4FDD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3FB69-16FF-41F0-6679-59013DB38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34F0E-4F72-8910-2016-0A6D99906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BR" dirty="0"/>
              <a:t>No início as aplicações rodavam em VMs</a:t>
            </a:r>
          </a:p>
          <a:p>
            <a:pPr marL="171450" indent="-171450">
              <a:buFontTx/>
              <a:buChar char="-"/>
            </a:pPr>
            <a:r>
              <a:rPr lang="en-BR" dirty="0"/>
              <a:t>Evoluímos para a conteinerização, ao invés de termos várias VMs rodando as aplicações, temos vários conteiners dentro da uma quantidade infinitamente menor de máquinas</a:t>
            </a:r>
          </a:p>
          <a:p>
            <a:pPr marL="171450" indent="-171450">
              <a:buFontTx/>
              <a:buChar char="-"/>
            </a:pPr>
            <a:r>
              <a:rPr lang="en-BR" dirty="0"/>
              <a:t>Criavamos as réplicas das aplicações manualmente em cada VM e o load balancer precisava determinar para qual VM/conteiner mandar a aplicação</a:t>
            </a:r>
          </a:p>
          <a:p>
            <a:pPr marL="171450" indent="-171450">
              <a:buFontTx/>
              <a:buChar char="-"/>
            </a:pP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61B35-7495-476F-DAFA-7554CF2D5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19367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FB34-6117-8ABA-FBBD-25693124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1E7B5-0A45-1ED4-A0E6-8A55777D3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708CE-2999-7025-4A6E-E4588402E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D3A39-BB25-123F-E930-3AE13983B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22856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BCF5-C851-4F05-2A78-72DD47F8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9530D-619C-A6BF-AFDD-108F833F7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F7B79-2D96-EAEC-5AFA-D98E119C3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Server: Porta de entrada do Kubernetes</a:t>
            </a:r>
          </a:p>
          <a:p>
            <a:r>
              <a:rPr lang="en-US" dirty="0" err="1"/>
              <a:t>Etcd</a:t>
            </a:r>
            <a:r>
              <a:rPr lang="en-US" dirty="0"/>
              <a:t>: Banco que </a:t>
            </a:r>
            <a:r>
              <a:rPr lang="en-US" dirty="0" err="1"/>
              <a:t>guarda</a:t>
            </a:r>
            <a:r>
              <a:rPr lang="en-US" dirty="0"/>
              <a:t> o </a:t>
            </a:r>
            <a:r>
              <a:rPr lang="en-US" dirty="0" err="1"/>
              <a:t>estado</a:t>
            </a:r>
            <a:r>
              <a:rPr lang="en-US" dirty="0"/>
              <a:t> do cluster</a:t>
            </a:r>
          </a:p>
          <a:p>
            <a:r>
              <a:rPr lang="en-US" dirty="0"/>
              <a:t>Scheduler: Decide </a:t>
            </a:r>
            <a:r>
              <a:rPr lang="en-US" dirty="0" err="1"/>
              <a:t>em</a:t>
            </a:r>
            <a:r>
              <a:rPr lang="en-US" dirty="0"/>
              <a:t> qual Node um Pod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rodar</a:t>
            </a:r>
            <a:endParaRPr lang="en-US" dirty="0"/>
          </a:p>
          <a:p>
            <a:r>
              <a:rPr lang="en-US" dirty="0"/>
              <a:t>Controller Manager: </a:t>
            </a:r>
            <a:r>
              <a:rPr lang="en-US" dirty="0" err="1"/>
              <a:t>Verifica</a:t>
            </a:r>
            <a:r>
              <a:rPr lang="en-US" dirty="0"/>
              <a:t> se o </a:t>
            </a:r>
            <a:r>
              <a:rPr lang="en-US" dirty="0" err="1"/>
              <a:t>estado</a:t>
            </a:r>
            <a:r>
              <a:rPr lang="en-US" dirty="0"/>
              <a:t> </a:t>
            </a:r>
            <a:r>
              <a:rPr lang="en-US" dirty="0" err="1"/>
              <a:t>atual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desejado</a:t>
            </a: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55814-7E58-D368-57F4-18C8F0B9F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757-E36B-4742-A6CD-DA60701CC35A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3219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1188-86F7-0EA8-5D1B-20C9B798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0545F-7BB8-A01F-C7E1-8181AB264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0AEA3-44A4-3B82-565E-A5384E95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B71C7-9726-2CBE-A2C3-949DB377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71110-E159-15F8-02A6-82BB4E54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3631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2749-3D94-406D-29C9-8BFA0201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D6789-19CB-5729-F661-B8F5C42BB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8CD6-7D34-DB98-E27F-D548181C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48650-7B75-6547-6671-65469B5E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6A51A-D239-D1AE-6BBD-68531D4E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3715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C359-D9D5-8632-A1A9-C0D03328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42F4-24EE-9D5A-E6A1-BA40CC5CD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2DE7-42E6-0251-1093-8F9948CA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9A7C7-8C54-62F5-1625-410CFB13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AF5F3-D2B1-05B9-ED6C-E9308246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2454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3C91-4CEF-6A34-106F-D93F9602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53564-DE90-41A2-3757-28610EF88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364B0-16B4-2980-B83E-CD58EE714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22DB4-E83E-AC3C-09B7-33860480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24619-644D-C4A0-783E-2E9D3D4E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09C1D-F27B-791A-3AB2-A8B72EA1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316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70F7-EA41-3D0A-E761-7A30B4B6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08D3E-0EDC-75DD-3D5A-797546A0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6C6F6-7620-C912-243E-74A2B887E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DBDF9-68B3-E607-43A2-AF5533C0B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3411C-D760-32A0-A8CD-484518CE8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6C72B4-4F2B-6DB6-5853-ED0EDE18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2A80B-EDAA-C16D-C2FF-7B95707D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51F71-14B9-89F9-A407-40572A02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6538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2238-890D-1E5E-DBCC-6477D8EF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77947-1947-0AAC-5665-A7C17847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BDABE-FF72-7A40-8CE2-642478C6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4CF80-4AF9-42EE-85A3-CA699851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9883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E8A22-C426-F489-E1BE-C4ED36C77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AF7CC-774F-3F97-D99F-CCE24203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879F8-088D-F1AA-C431-7137BC5E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500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173-E5F9-7880-B08E-6B6604C8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8035F-6724-4739-2449-D14A75FF4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DD811-68A9-770C-B326-0727AD60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9BF44-82CA-238C-DE33-E150940C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843A8-9A93-45FD-CCF3-A05FBB9E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92BA0-530D-4519-AF1A-FCD56D1D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608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4645-75F3-1763-66F5-9E164D0F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E3A00-5DF9-233A-FD07-D06AEC35C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AE0E4-C39C-C41E-4FC7-FFE9239B2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CABB2-045D-11F4-387C-441D17D5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66195-B0A6-A43A-28D7-FAE06D3F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64D85-9810-8470-BDDF-A795B0C1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1158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5E13-7584-DEDA-0F68-4FE991F2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CAAD0-6962-AD58-A9EF-CB5753D5F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047D-9E99-5AE0-4C62-79C560BE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B9308-B9A2-F822-0C96-DC0CB675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BB5B-A0D8-78FD-DC0D-6E7CC690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3522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FE992-1432-012D-D9A2-7A691A75E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88655-F137-10FA-B277-C4E1B63BA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79B3C-20C8-4962-8824-16E1E425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49E93-EB2D-3986-64CB-A00B51D0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94F1-4666-69EC-804E-44621912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5745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CB1B2-C2F5-F9BD-B454-146088BE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F0578-1FBD-F4EB-33C1-640E0C76E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D328-EB31-F36F-4E8C-67F582A7A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A61EC-1F7F-F445-A213-8F8C9917C1FB}" type="datetimeFigureOut">
              <a:rPr lang="en-BR" smtClean="0"/>
              <a:t>30/06/26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1F8E1-66BF-EAF7-6B4C-F1EFDDBF1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8FA08-D860-4079-9610-D20B3B26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99106-07D1-804D-B974-65F9A633351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6746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jpe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8E18-7CA1-5A64-000D-282357151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688" y="2629238"/>
            <a:ext cx="4075289" cy="799762"/>
          </a:xfrm>
        </p:spPr>
        <p:txBody>
          <a:bodyPr>
            <a:normAutofit/>
          </a:bodyPr>
          <a:lstStyle/>
          <a:p>
            <a:pPr algn="l"/>
            <a:r>
              <a:rPr lang="en-BR" sz="4000" b="1" u="sng" dirty="0"/>
              <a:t>Grupo de estudos</a:t>
            </a:r>
            <a:endParaRPr lang="en-BR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E49AF-C751-8EFA-580E-9CB03786F048}"/>
              </a:ext>
            </a:extLst>
          </p:cNvPr>
          <p:cNvSpPr/>
          <p:nvPr/>
        </p:nvSpPr>
        <p:spPr>
          <a:xfrm>
            <a:off x="0" y="0"/>
            <a:ext cx="12192000" cy="1215736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3074" name="Picture 2" descr="FIAPP – Apps no Google Play">
            <a:extLst>
              <a:ext uri="{FF2B5EF4-FFF2-40B4-BE49-F238E27FC236}">
                <a16:creationId xmlns:a16="http://schemas.microsoft.com/office/drawing/2014/main" id="{C0CBD232-57D3-3E85-3B2D-12C54F3D7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78011" cy="117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0EE8D-DEB0-36D3-FB48-6708A7E6DDF0}"/>
              </a:ext>
            </a:extLst>
          </p:cNvPr>
          <p:cNvSpPr/>
          <p:nvPr/>
        </p:nvSpPr>
        <p:spPr>
          <a:xfrm>
            <a:off x="0" y="6582032"/>
            <a:ext cx="12192000" cy="275967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AutoShape 4" descr="Home – DVC">
            <a:extLst>
              <a:ext uri="{FF2B5EF4-FFF2-40B4-BE49-F238E27FC236}">
                <a16:creationId xmlns:a16="http://schemas.microsoft.com/office/drawing/2014/main" id="{B864E008-56CD-9493-A69B-DFD110E1A9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R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FE3F27E-032F-13E3-5BB3-A0FEDA8C1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688" y="35655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lflow.data">
            <a:extLst>
              <a:ext uri="{FF2B5EF4-FFF2-40B4-BE49-F238E27FC236}">
                <a16:creationId xmlns:a16="http://schemas.microsoft.com/office/drawing/2014/main" id="{7D870EB5-D1F3-0913-7FF1-526FAD16B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341" y="3854456"/>
            <a:ext cx="196363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05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9874E1-F4CD-2F30-1A8F-E2E4991A8E53}"/>
              </a:ext>
            </a:extLst>
          </p:cNvPr>
          <p:cNvSpPr/>
          <p:nvPr/>
        </p:nvSpPr>
        <p:spPr>
          <a:xfrm>
            <a:off x="-11289" y="6624137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439F4-6E4E-347D-4DED-E57FAE783609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C73C04FB-B4A2-6777-6374-2026FD12A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00C070-A4C6-EFC0-E91A-AE0869DE00B0}"/>
              </a:ext>
            </a:extLst>
          </p:cNvPr>
          <p:cNvCxnSpPr/>
          <p:nvPr/>
        </p:nvCxnSpPr>
        <p:spPr>
          <a:xfrm>
            <a:off x="252590" y="975180"/>
            <a:ext cx="11521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E9D170-7511-A6E0-E1AC-D94D03A046AA}"/>
              </a:ext>
            </a:extLst>
          </p:cNvPr>
          <p:cNvSpPr txBox="1"/>
          <p:nvPr/>
        </p:nvSpPr>
        <p:spPr>
          <a:xfrm>
            <a:off x="643467" y="587022"/>
            <a:ext cx="44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/>
              <a:t>Etapas da construção de um modelo de ML</a:t>
            </a:r>
          </a:p>
        </p:txBody>
      </p:sp>
      <p:pic>
        <p:nvPicPr>
          <p:cNvPr id="6" name="Picture 4" descr="Idea Icon by Flat Icons – download in PNG, SVG">
            <a:extLst>
              <a:ext uri="{FF2B5EF4-FFF2-40B4-BE49-F238E27FC236}">
                <a16:creationId xmlns:a16="http://schemas.microsoft.com/office/drawing/2014/main" id="{A96B6FAE-8D06-B115-976F-210A10835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7" y="326187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eveloper - Free computer icons">
            <a:extLst>
              <a:ext uri="{FF2B5EF4-FFF2-40B4-BE49-F238E27FC236}">
                <a16:creationId xmlns:a16="http://schemas.microsoft.com/office/drawing/2014/main" id="{0FCE6632-5F69-13C8-CF7B-8A99AB5DF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778" y="326187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ata Analytics - Free computer icons">
            <a:extLst>
              <a:ext uri="{FF2B5EF4-FFF2-40B4-BE49-F238E27FC236}">
                <a16:creationId xmlns:a16="http://schemas.microsoft.com/office/drawing/2014/main" id="{DDF99D56-60E9-22C9-28C3-8B92E6D85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089" y="332910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Machine learning - Free electronics icons">
            <a:extLst>
              <a:ext uri="{FF2B5EF4-FFF2-40B4-BE49-F238E27FC236}">
                <a16:creationId xmlns:a16="http://schemas.microsoft.com/office/drawing/2014/main" id="{04B17201-F738-6360-762F-F6CF752B9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400" y="332910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Profit - Free business and finance icons">
            <a:extLst>
              <a:ext uri="{FF2B5EF4-FFF2-40B4-BE49-F238E27FC236}">
                <a16:creationId xmlns:a16="http://schemas.microsoft.com/office/drawing/2014/main" id="{2FBE4343-07FB-BA18-16E5-5945EBF7D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710" y="326187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1BB1ED-C763-CD10-10EC-71D360966CE0}"/>
              </a:ext>
            </a:extLst>
          </p:cNvPr>
          <p:cNvCxnSpPr>
            <a:cxnSpLocks/>
          </p:cNvCxnSpPr>
          <p:nvPr/>
        </p:nvCxnSpPr>
        <p:spPr>
          <a:xfrm>
            <a:off x="1794933" y="3671106"/>
            <a:ext cx="9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690FCB-EFB6-CAC5-1658-3BCFF5308C89}"/>
              </a:ext>
            </a:extLst>
          </p:cNvPr>
          <p:cNvCxnSpPr>
            <a:cxnSpLocks/>
          </p:cNvCxnSpPr>
          <p:nvPr/>
        </p:nvCxnSpPr>
        <p:spPr>
          <a:xfrm>
            <a:off x="4199467" y="367110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32A031-EEA1-C280-19E6-FB9603063F5A}"/>
              </a:ext>
            </a:extLst>
          </p:cNvPr>
          <p:cNvCxnSpPr>
            <a:cxnSpLocks/>
          </p:cNvCxnSpPr>
          <p:nvPr/>
        </p:nvCxnSpPr>
        <p:spPr>
          <a:xfrm>
            <a:off x="6790267" y="367110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BEA51B-1C89-002F-B006-D6851EDEB8A6}"/>
              </a:ext>
            </a:extLst>
          </p:cNvPr>
          <p:cNvCxnSpPr>
            <a:cxnSpLocks/>
          </p:cNvCxnSpPr>
          <p:nvPr/>
        </p:nvCxnSpPr>
        <p:spPr>
          <a:xfrm>
            <a:off x="9437512" y="367110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64" name="Picture 16" descr="Code - Free web icons">
            <a:extLst>
              <a:ext uri="{FF2B5EF4-FFF2-40B4-BE49-F238E27FC236}">
                <a16:creationId xmlns:a16="http://schemas.microsoft.com/office/drawing/2014/main" id="{A5C9CD19-17F8-AB27-3D63-5612AD389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467" y="259961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6" descr="Code - Free web icons">
            <a:extLst>
              <a:ext uri="{FF2B5EF4-FFF2-40B4-BE49-F238E27FC236}">
                <a16:creationId xmlns:a16="http://schemas.microsoft.com/office/drawing/2014/main" id="{D887632C-5852-6CAB-9D72-E4B6EFE97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267" y="259961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6" descr="Code - Free web icons">
            <a:extLst>
              <a:ext uri="{FF2B5EF4-FFF2-40B4-BE49-F238E27FC236}">
                <a16:creationId xmlns:a16="http://schemas.microsoft.com/office/drawing/2014/main" id="{D2465C16-3C6D-FB22-1536-DB3DDC82C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512" y="259961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8" descr="Git Logo PNG Vector (SVG) Free Download">
            <a:extLst>
              <a:ext uri="{FF2B5EF4-FFF2-40B4-BE49-F238E27FC236}">
                <a16:creationId xmlns:a16="http://schemas.microsoft.com/office/drawing/2014/main" id="{0464F85C-F4F5-566E-E808-28511BCC6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46" y="2502376"/>
            <a:ext cx="622221" cy="62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F8CE4D-D1EA-C4C1-DABD-9B036B8E0C0D}"/>
              </a:ext>
            </a:extLst>
          </p:cNvPr>
          <p:cNvSpPr txBox="1"/>
          <p:nvPr/>
        </p:nvSpPr>
        <p:spPr>
          <a:xfrm>
            <a:off x="1659467" y="2633487"/>
            <a:ext cx="265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200" dirty="0"/>
              <a:t>Usamos o Git em todas as etapas da construção do modelo</a:t>
            </a:r>
          </a:p>
        </p:txBody>
      </p:sp>
      <p:pic>
        <p:nvPicPr>
          <p:cNvPr id="38" name="Picture 20" descr="Question mark - Free shapes and symbols icons">
            <a:extLst>
              <a:ext uri="{FF2B5EF4-FFF2-40B4-BE49-F238E27FC236}">
                <a16:creationId xmlns:a16="http://schemas.microsoft.com/office/drawing/2014/main" id="{BA234425-EC50-5D63-64EE-E98CDC999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28" y="4084251"/>
            <a:ext cx="526744" cy="52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0" descr="Question mark - Free shapes and symbols icons">
            <a:extLst>
              <a:ext uri="{FF2B5EF4-FFF2-40B4-BE49-F238E27FC236}">
                <a16:creationId xmlns:a16="http://schemas.microsoft.com/office/drawing/2014/main" id="{E342B98B-0E77-0417-B72D-4010103B0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028" y="4084251"/>
            <a:ext cx="526744" cy="52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8A61F94A-0797-5C37-C10F-CB1D5664EF66}"/>
              </a:ext>
            </a:extLst>
          </p:cNvPr>
          <p:cNvGrpSpPr/>
          <p:nvPr/>
        </p:nvGrpSpPr>
        <p:grpSpPr>
          <a:xfrm>
            <a:off x="1016356" y="5147919"/>
            <a:ext cx="8050209" cy="526745"/>
            <a:chOff x="1016356" y="5147919"/>
            <a:chExt cx="8050209" cy="526745"/>
          </a:xfrm>
        </p:grpSpPr>
        <p:pic>
          <p:nvPicPr>
            <p:cNvPr id="41" name="Picture 8">
              <a:extLst>
                <a:ext uri="{FF2B5EF4-FFF2-40B4-BE49-F238E27FC236}">
                  <a16:creationId xmlns:a16="http://schemas.microsoft.com/office/drawing/2014/main" id="{3882E4E3-6BAA-0262-59B2-D69495956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356" y="5147919"/>
              <a:ext cx="526745" cy="5267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BB7432C-52C6-26AC-1A27-59ADDE71E196}"/>
                </a:ext>
              </a:extLst>
            </p:cNvPr>
            <p:cNvSpPr txBox="1"/>
            <p:nvPr/>
          </p:nvSpPr>
          <p:spPr>
            <a:xfrm>
              <a:off x="1672721" y="5272792"/>
              <a:ext cx="73938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O </a:t>
              </a:r>
              <a:r>
                <a:rPr lang="en-US" sz="1200" b="1" dirty="0"/>
                <a:t>DVC</a:t>
              </a:r>
              <a:r>
                <a:rPr lang="en-US" sz="1200" dirty="0"/>
                <a:t> serve para </a:t>
              </a:r>
              <a:r>
                <a:rPr lang="en-US" sz="1200" b="1" dirty="0" err="1"/>
                <a:t>versionar</a:t>
              </a:r>
              <a:r>
                <a:rPr lang="en-US" sz="1200" b="1" dirty="0"/>
                <a:t> e </a:t>
              </a:r>
              <a:r>
                <a:rPr lang="en-US" sz="1200" b="1" dirty="0" err="1"/>
                <a:t>rastrear</a:t>
              </a:r>
              <a:r>
                <a:rPr lang="en-US" sz="1200" b="1" dirty="0"/>
                <a:t> dados, </a:t>
              </a:r>
              <a:r>
                <a:rPr lang="en-US" sz="1200" b="1" dirty="0" err="1"/>
                <a:t>modelos</a:t>
              </a:r>
              <a:r>
                <a:rPr lang="en-US" sz="1200" b="1" dirty="0"/>
                <a:t> e </a:t>
              </a:r>
              <a:r>
                <a:rPr lang="en-US" sz="1200" b="1" dirty="0" err="1"/>
                <a:t>artefatos</a:t>
              </a:r>
              <a:r>
                <a:rPr lang="en-US" sz="1200" dirty="0"/>
                <a:t> </a:t>
              </a:r>
              <a:r>
                <a:rPr lang="en-US" sz="1200" dirty="0" err="1"/>
                <a:t>em</a:t>
              </a:r>
              <a:r>
                <a:rPr lang="en-US" sz="1200" dirty="0"/>
                <a:t> um </a:t>
              </a:r>
              <a:r>
                <a:rPr lang="en-US" sz="1200" dirty="0" err="1"/>
                <a:t>projeto</a:t>
              </a:r>
              <a:r>
                <a:rPr lang="en-US" sz="1200" dirty="0"/>
                <a:t> de ML, junto com o Git.</a:t>
              </a:r>
              <a:endParaRPr lang="en-BR" sz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38F44F-63BF-9223-C779-C7B7CD4C5594}"/>
              </a:ext>
            </a:extLst>
          </p:cNvPr>
          <p:cNvGrpSpPr/>
          <p:nvPr/>
        </p:nvGrpSpPr>
        <p:grpSpPr>
          <a:xfrm>
            <a:off x="936101" y="5825634"/>
            <a:ext cx="8117210" cy="276999"/>
            <a:chOff x="936101" y="5825634"/>
            <a:chExt cx="8117210" cy="276999"/>
          </a:xfrm>
        </p:grpSpPr>
        <p:pic>
          <p:nvPicPr>
            <p:cNvPr id="42" name="Picture 10" descr="mlflow.data">
              <a:extLst>
                <a:ext uri="{FF2B5EF4-FFF2-40B4-BE49-F238E27FC236}">
                  <a16:creationId xmlns:a16="http://schemas.microsoft.com/office/drawing/2014/main" id="{DAE8B895-1C90-3F83-8BF0-A969DA0103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101" y="5838137"/>
              <a:ext cx="687254" cy="251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88A9E7A-5008-47A1-F42F-FA2DE3F17FFA}"/>
                </a:ext>
              </a:extLst>
            </p:cNvPr>
            <p:cNvSpPr txBox="1"/>
            <p:nvPr/>
          </p:nvSpPr>
          <p:spPr>
            <a:xfrm>
              <a:off x="1659467" y="5825634"/>
              <a:ext cx="73938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O </a:t>
              </a:r>
              <a:r>
                <a:rPr lang="en-US" sz="1200" b="1" dirty="0" err="1"/>
                <a:t>MLflow</a:t>
              </a:r>
              <a:r>
                <a:rPr lang="en-US" sz="1200" dirty="0"/>
                <a:t> serve para </a:t>
              </a:r>
              <a:r>
                <a:rPr lang="en-US" sz="1200" b="1" dirty="0"/>
                <a:t>registrar, </a:t>
              </a:r>
              <a:r>
                <a:rPr lang="en-US" sz="1200" b="1" dirty="0" err="1"/>
                <a:t>comparar</a:t>
              </a:r>
              <a:r>
                <a:rPr lang="en-US" sz="1200" b="1" dirty="0"/>
                <a:t> e </a:t>
              </a:r>
              <a:r>
                <a:rPr lang="en-US" sz="1200" b="1" dirty="0" err="1"/>
                <a:t>gerenciar</a:t>
              </a:r>
              <a:r>
                <a:rPr lang="en-US" sz="1200" b="1" dirty="0"/>
                <a:t> </a:t>
              </a:r>
              <a:r>
                <a:rPr lang="en-US" sz="1200" b="1" dirty="0" err="1"/>
                <a:t>experimentos</a:t>
              </a:r>
              <a:r>
                <a:rPr lang="en-US" sz="1200" b="1" dirty="0"/>
                <a:t> e </a:t>
              </a:r>
              <a:r>
                <a:rPr lang="en-US" sz="1200" b="1" dirty="0" err="1"/>
                <a:t>modelos</a:t>
              </a:r>
              <a:r>
                <a:rPr lang="en-US" sz="1200" dirty="0"/>
                <a:t> </a:t>
              </a:r>
              <a:r>
                <a:rPr lang="en-US" sz="1200" dirty="0" err="1"/>
                <a:t>em</a:t>
              </a:r>
              <a:r>
                <a:rPr lang="en-US" sz="1200" dirty="0"/>
                <a:t> um </a:t>
              </a:r>
              <a:r>
                <a:rPr lang="en-US" sz="1200" dirty="0" err="1"/>
                <a:t>projeto</a:t>
              </a:r>
              <a:r>
                <a:rPr lang="en-US" sz="1200" dirty="0"/>
                <a:t> de ML.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57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2A0E32-69CF-700E-939C-B3584D3AD572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04C14D-1F03-9AE7-3831-7810379F0F6D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3" name="Picture 2" descr="FIAPP – Apps no Google Play">
            <a:extLst>
              <a:ext uri="{FF2B5EF4-FFF2-40B4-BE49-F238E27FC236}">
                <a16:creationId xmlns:a16="http://schemas.microsoft.com/office/drawing/2014/main" id="{BD107E1F-80FC-F905-704B-D67680998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9104B0C-A00D-4300-4A5D-F9597E11C236}"/>
              </a:ext>
            </a:extLst>
          </p:cNvPr>
          <p:cNvGrpSpPr/>
          <p:nvPr/>
        </p:nvGrpSpPr>
        <p:grpSpPr>
          <a:xfrm>
            <a:off x="342901" y="617137"/>
            <a:ext cx="11521721" cy="369332"/>
            <a:chOff x="342901" y="1542825"/>
            <a:chExt cx="11521721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4C6B649-83B8-A0FE-2443-A6678B1DC3B5}"/>
                </a:ext>
              </a:extLst>
            </p:cNvPr>
            <p:cNvSpPr txBox="1"/>
            <p:nvPr/>
          </p:nvSpPr>
          <p:spPr>
            <a:xfrm>
              <a:off x="3450958" y="1542825"/>
              <a:ext cx="528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R" dirty="0"/>
                <a:t>O que é controle de versionamento?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50D366-5423-02F9-5102-6093ABE745C2}"/>
                </a:ext>
              </a:extLst>
            </p:cNvPr>
            <p:cNvCxnSpPr/>
            <p:nvPr/>
          </p:nvCxnSpPr>
          <p:spPr>
            <a:xfrm>
              <a:off x="342901" y="1912157"/>
              <a:ext cx="1152172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4C2FAE1-F6ED-5B15-A6A0-47BBF78D5CD9}"/>
              </a:ext>
            </a:extLst>
          </p:cNvPr>
          <p:cNvSpPr txBox="1"/>
          <p:nvPr/>
        </p:nvSpPr>
        <p:spPr>
          <a:xfrm>
            <a:off x="342901" y="1217301"/>
            <a:ext cx="10754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Versionamento</a:t>
            </a:r>
            <a:r>
              <a:rPr lang="en-US" sz="1200" dirty="0"/>
              <a:t> </a:t>
            </a:r>
            <a:r>
              <a:rPr lang="en-US" sz="1200" dirty="0" err="1"/>
              <a:t>ou</a:t>
            </a:r>
            <a:r>
              <a:rPr lang="en-US" sz="1200" dirty="0"/>
              <a:t> </a:t>
            </a:r>
            <a:r>
              <a:rPr lang="en-US" sz="1200" dirty="0" err="1"/>
              <a:t>controle</a:t>
            </a:r>
            <a:r>
              <a:rPr lang="en-US" sz="1200" dirty="0"/>
              <a:t> de </a:t>
            </a:r>
            <a:r>
              <a:rPr lang="en-US" sz="1200" dirty="0" err="1"/>
              <a:t>versionamento</a:t>
            </a:r>
            <a:r>
              <a:rPr lang="en-US" sz="1200" dirty="0"/>
              <a:t> </a:t>
            </a:r>
            <a:r>
              <a:rPr lang="en-US" sz="1200" dirty="0" err="1"/>
              <a:t>é</a:t>
            </a:r>
            <a:r>
              <a:rPr lang="en-US" sz="1200" dirty="0"/>
              <a:t> a </a:t>
            </a:r>
            <a:r>
              <a:rPr lang="en-US" sz="1200" b="1" dirty="0" err="1"/>
              <a:t>prática</a:t>
            </a:r>
            <a:r>
              <a:rPr lang="en-US" sz="1200" b="1" dirty="0"/>
              <a:t> de registrar as </a:t>
            </a:r>
            <a:r>
              <a:rPr lang="en-US" sz="1200" b="1" dirty="0" err="1"/>
              <a:t>mudanças</a:t>
            </a:r>
            <a:r>
              <a:rPr lang="en-US" sz="1200" dirty="0"/>
              <a:t> </a:t>
            </a:r>
            <a:r>
              <a:rPr lang="en-US" sz="1200" dirty="0" err="1"/>
              <a:t>feitas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arquivos</a:t>
            </a:r>
            <a:r>
              <a:rPr lang="en-US" sz="1200" dirty="0"/>
              <a:t>, </a:t>
            </a:r>
            <a:r>
              <a:rPr lang="en-US" sz="1200" dirty="0" err="1"/>
              <a:t>códigos</a:t>
            </a:r>
            <a:r>
              <a:rPr lang="en-US" sz="1200" dirty="0"/>
              <a:t>, dados </a:t>
            </a:r>
            <a:r>
              <a:rPr lang="en-US" sz="1200" dirty="0" err="1"/>
              <a:t>ou</a:t>
            </a:r>
            <a:r>
              <a:rPr lang="en-US" sz="1200" dirty="0"/>
              <a:t> </a:t>
            </a:r>
            <a:r>
              <a:rPr lang="en-US" sz="1200" dirty="0" err="1"/>
              <a:t>modelos</a:t>
            </a:r>
            <a:r>
              <a:rPr lang="en-US" sz="1200" dirty="0"/>
              <a:t>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longo</a:t>
            </a:r>
            <a:r>
              <a:rPr lang="en-US" sz="1200" dirty="0"/>
              <a:t> do tempo.</a:t>
            </a:r>
            <a:endParaRPr lang="en-BR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BDE37E-CE00-CA2A-DC81-F7AE44421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3" y="1853411"/>
            <a:ext cx="2570425" cy="3121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9DDFB0-5483-4287-E3D5-F3E16AF6C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7511" y="1461049"/>
            <a:ext cx="8057111" cy="41468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EDBAE8E-AA52-B6AF-BCAE-2B06D143816E}"/>
              </a:ext>
            </a:extLst>
          </p:cNvPr>
          <p:cNvSpPr txBox="1"/>
          <p:nvPr/>
        </p:nvSpPr>
        <p:spPr>
          <a:xfrm>
            <a:off x="3807511" y="5638226"/>
            <a:ext cx="405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Temos</a:t>
            </a:r>
            <a:r>
              <a:rPr lang="en-US" sz="1200" dirty="0"/>
              <a:t> o </a:t>
            </a:r>
            <a:r>
              <a:rPr lang="en-US" sz="1200" dirty="0" err="1"/>
              <a:t>mersmo</a:t>
            </a:r>
            <a:r>
              <a:rPr lang="en-US" sz="1200" dirty="0"/>
              <a:t> software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diferentes</a:t>
            </a:r>
            <a:r>
              <a:rPr lang="en-US" sz="1200" dirty="0"/>
              <a:t> </a:t>
            </a:r>
            <a:r>
              <a:rPr lang="en-US" sz="1200" dirty="0" err="1"/>
              <a:t>versões</a:t>
            </a:r>
            <a:r>
              <a:rPr lang="en-US" sz="1200" dirty="0"/>
              <a:t>.</a:t>
            </a:r>
            <a:endParaRPr lang="en-BR" sz="1200" dirty="0"/>
          </a:p>
        </p:txBody>
      </p:sp>
    </p:spTree>
    <p:extLst>
      <p:ext uri="{BB962C8B-B14F-4D97-AF65-F5344CB8AC3E}">
        <p14:creationId xmlns:p14="http://schemas.microsoft.com/office/powerpoint/2010/main" val="226401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5521A2-2778-C989-3E31-39E2185F75B8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10CD5-E11E-1F61-91BA-53F495CB1D79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E2FB3837-3FEB-32B9-B53B-8274D1B0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03EA7D-6A50-983E-C09E-86E2202C4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670" y="1355801"/>
            <a:ext cx="9608659" cy="4232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6442C-06EA-CAD5-977E-00C2E5097553}"/>
              </a:ext>
            </a:extLst>
          </p:cNvPr>
          <p:cNvSpPr txBox="1"/>
          <p:nvPr/>
        </p:nvSpPr>
        <p:spPr>
          <a:xfrm>
            <a:off x="3450958" y="617137"/>
            <a:ext cx="528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Qual é a importância do controle de versões?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DE49C6-FA82-AF26-CE8E-8469DD1B64B2}"/>
              </a:ext>
            </a:extLst>
          </p:cNvPr>
          <p:cNvCxnSpPr/>
          <p:nvPr/>
        </p:nvCxnSpPr>
        <p:spPr>
          <a:xfrm>
            <a:off x="342901" y="986469"/>
            <a:ext cx="11521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6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E7F4-AE4E-3EAC-35AA-D477A2E4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557FFE-82FD-EC0A-0ED0-E6AE7F2FF3C2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A2375-31F9-5B0E-40F7-C6A073BF44DD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F810D3D2-2241-5255-68EB-4B213588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ta Version Control (software) - Wikipedia">
            <a:extLst>
              <a:ext uri="{FF2B5EF4-FFF2-40B4-BE49-F238E27FC236}">
                <a16:creationId xmlns:a16="http://schemas.microsoft.com/office/drawing/2014/main" id="{6EF59C1E-3F32-EBFA-CE5B-630BB8AD5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1" y="430982"/>
            <a:ext cx="563528" cy="56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2113F6-CED9-B8D3-F1DD-058C446C24CC}"/>
              </a:ext>
            </a:extLst>
          </p:cNvPr>
          <p:cNvSpPr txBox="1"/>
          <p:nvPr/>
        </p:nvSpPr>
        <p:spPr>
          <a:xfrm>
            <a:off x="734978" y="481914"/>
            <a:ext cx="11005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200" dirty="0"/>
              <a:t>Aplica o mesmo conceito do versionamento de códigos aos dados, modelos e artefatos dos projetos de ML, sendo capaz de versionar em qualquer ambiente como AWS S3, GCS, Azure Blob Storage, MinIO etc…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2248DF-81AF-39EB-4054-1FB0E644CAE0}"/>
              </a:ext>
            </a:extLst>
          </p:cNvPr>
          <p:cNvGrpSpPr/>
          <p:nvPr/>
        </p:nvGrpSpPr>
        <p:grpSpPr>
          <a:xfrm>
            <a:off x="489035" y="1034926"/>
            <a:ext cx="11313496" cy="276999"/>
            <a:chOff x="489035" y="1034926"/>
            <a:chExt cx="11313496" cy="276999"/>
          </a:xfrm>
        </p:grpSpPr>
        <p:pic>
          <p:nvPicPr>
            <p:cNvPr id="1026" name="Picture 2" descr="Download - Free arrows icons">
              <a:extLst>
                <a:ext uri="{FF2B5EF4-FFF2-40B4-BE49-F238E27FC236}">
                  <a16:creationId xmlns:a16="http://schemas.microsoft.com/office/drawing/2014/main" id="{5571071E-FC23-C18B-141A-E7E7F4A24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89035" y="1047425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4AB81C8-066C-5D36-BBE5-7D2E878CBAFE}"/>
                </a:ext>
              </a:extLst>
            </p:cNvPr>
            <p:cNvSpPr txBox="1"/>
            <p:nvPr/>
          </p:nvSpPr>
          <p:spPr>
            <a:xfrm>
              <a:off x="797066" y="1034926"/>
              <a:ext cx="110054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R" sz="1200" dirty="0"/>
                <a:t>DVC é uma ferramenta de gerenciamento de experimentos para ML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2CDA8FF-9939-B784-79D2-87FC25B17454}"/>
              </a:ext>
            </a:extLst>
          </p:cNvPr>
          <p:cNvGrpSpPr/>
          <p:nvPr/>
        </p:nvGrpSpPr>
        <p:grpSpPr>
          <a:xfrm>
            <a:off x="489034" y="1440449"/>
            <a:ext cx="11313496" cy="276999"/>
            <a:chOff x="489035" y="1034926"/>
            <a:chExt cx="11313496" cy="276999"/>
          </a:xfrm>
        </p:grpSpPr>
        <p:pic>
          <p:nvPicPr>
            <p:cNvPr id="7" name="Picture 2" descr="Download - Free arrows icons">
              <a:extLst>
                <a:ext uri="{FF2B5EF4-FFF2-40B4-BE49-F238E27FC236}">
                  <a16:creationId xmlns:a16="http://schemas.microsoft.com/office/drawing/2014/main" id="{6CCC5B1B-3C53-013B-DC3E-15AF24411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89035" y="1047425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832A47-5E0D-79F6-49FB-09AE02FBC618}"/>
                </a:ext>
              </a:extLst>
            </p:cNvPr>
            <p:cNvSpPr txBox="1"/>
            <p:nvPr/>
          </p:nvSpPr>
          <p:spPr>
            <a:xfrm>
              <a:off x="797066" y="1034926"/>
              <a:ext cx="110054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noProof="0"/>
                <a:t>Ele nos permite ter um histórico único para dados, código e modelos de ML, que você pode navegar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294F55-F2F7-8624-F4EA-FA5D19E5C4FA}"/>
              </a:ext>
            </a:extLst>
          </p:cNvPr>
          <p:cNvGrpSpPr/>
          <p:nvPr/>
        </p:nvGrpSpPr>
        <p:grpSpPr>
          <a:xfrm>
            <a:off x="489033" y="1857587"/>
            <a:ext cx="11313496" cy="276999"/>
            <a:chOff x="489035" y="1034926"/>
            <a:chExt cx="11313496" cy="276999"/>
          </a:xfrm>
        </p:grpSpPr>
        <p:pic>
          <p:nvPicPr>
            <p:cNvPr id="10" name="Picture 2" descr="Download - Free arrows icons">
              <a:extLst>
                <a:ext uri="{FF2B5EF4-FFF2-40B4-BE49-F238E27FC236}">
                  <a16:creationId xmlns:a16="http://schemas.microsoft.com/office/drawing/2014/main" id="{A5544215-78B0-1CB0-3731-E3629A17B8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89035" y="1047425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A5329D-653C-C311-692B-3144F765DABC}"/>
                </a:ext>
              </a:extLst>
            </p:cNvPr>
            <p:cNvSpPr txBox="1"/>
            <p:nvPr/>
          </p:nvSpPr>
          <p:spPr>
            <a:xfrm>
              <a:off x="797066" y="1034926"/>
              <a:ext cx="110054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noProof="0" dirty="0"/>
                <a:t>Ele aproveita o conjunto de ferramentas de engenharia existente com o qual você já está familiarizado, como </a:t>
              </a:r>
              <a:r>
                <a:rPr lang="pt-BR" sz="1200" noProof="0" dirty="0" err="1"/>
                <a:t>Git</a:t>
              </a:r>
              <a:r>
                <a:rPr lang="pt-BR" sz="1200" noProof="0" dirty="0"/>
                <a:t>, CI/CD </a:t>
              </a:r>
              <a:r>
                <a:rPr lang="pt-BR" sz="1200" noProof="0" dirty="0" err="1"/>
                <a:t>etc</a:t>
              </a:r>
              <a:endParaRPr lang="pt-BR" sz="1200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9BD3A4-2979-D78E-C22D-F94580A7F78A}"/>
              </a:ext>
            </a:extLst>
          </p:cNvPr>
          <p:cNvGrpSpPr/>
          <p:nvPr/>
        </p:nvGrpSpPr>
        <p:grpSpPr>
          <a:xfrm>
            <a:off x="489032" y="2293222"/>
            <a:ext cx="11313496" cy="276999"/>
            <a:chOff x="489035" y="1034926"/>
            <a:chExt cx="11313496" cy="276999"/>
          </a:xfrm>
        </p:grpSpPr>
        <p:pic>
          <p:nvPicPr>
            <p:cNvPr id="14" name="Picture 2" descr="Download - Free arrows icons">
              <a:extLst>
                <a:ext uri="{FF2B5EF4-FFF2-40B4-BE49-F238E27FC236}">
                  <a16:creationId xmlns:a16="http://schemas.microsoft.com/office/drawing/2014/main" id="{A3D31027-AD30-7951-ADE2-13F55D14C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89035" y="1047425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C867D2-39D3-7157-7F17-A5ED1FA39252}"/>
                </a:ext>
              </a:extLst>
            </p:cNvPr>
            <p:cNvSpPr txBox="1"/>
            <p:nvPr/>
          </p:nvSpPr>
          <p:spPr>
            <a:xfrm>
              <a:off x="797066" y="1034926"/>
              <a:ext cx="110054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noProof="0" dirty="0"/>
                <a:t>Compartilha métrica de modelos entre experimentos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6CD335-6EA2-CEA9-4529-3AAD150B5A45}"/>
              </a:ext>
            </a:extLst>
          </p:cNvPr>
          <p:cNvCxnSpPr/>
          <p:nvPr/>
        </p:nvCxnSpPr>
        <p:spPr>
          <a:xfrm flipV="1">
            <a:off x="203355" y="3296358"/>
            <a:ext cx="11520000" cy="790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8B409C-6017-2CE3-2676-17B5C95E859F}"/>
              </a:ext>
            </a:extLst>
          </p:cNvPr>
          <p:cNvCxnSpPr>
            <a:cxnSpLocks/>
          </p:cNvCxnSpPr>
          <p:nvPr/>
        </p:nvCxnSpPr>
        <p:spPr>
          <a:xfrm flipV="1">
            <a:off x="2709335" y="3048879"/>
            <a:ext cx="0" cy="221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158EA5-4C15-2F07-157E-A1786B972571}"/>
              </a:ext>
            </a:extLst>
          </p:cNvPr>
          <p:cNvCxnSpPr>
            <a:cxnSpLocks/>
          </p:cNvCxnSpPr>
          <p:nvPr/>
        </p:nvCxnSpPr>
        <p:spPr>
          <a:xfrm flipV="1">
            <a:off x="6011333" y="3048879"/>
            <a:ext cx="0" cy="221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Laptop - Free computer icons">
            <a:extLst>
              <a:ext uri="{FF2B5EF4-FFF2-40B4-BE49-F238E27FC236}">
                <a16:creationId xmlns:a16="http://schemas.microsoft.com/office/drawing/2014/main" id="{FEE800E5-0B3E-3583-0F30-00DE338B3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32" y="2932015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33A378-69AC-56F7-0DE6-EEAFD45E3652}"/>
              </a:ext>
            </a:extLst>
          </p:cNvPr>
          <p:cNvSpPr txBox="1"/>
          <p:nvPr/>
        </p:nvSpPr>
        <p:spPr>
          <a:xfrm>
            <a:off x="615033" y="3004671"/>
            <a:ext cx="1755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 err="1"/>
              <a:t>Working</a:t>
            </a:r>
            <a:r>
              <a:rPr lang="pt-BR" sz="1200" noProof="0" dirty="0"/>
              <a:t> Area (Local)</a:t>
            </a:r>
          </a:p>
        </p:txBody>
      </p:sp>
      <p:pic>
        <p:nvPicPr>
          <p:cNvPr id="1042" name="Picture 18" descr="Code - Free computer icons">
            <a:extLst>
              <a:ext uri="{FF2B5EF4-FFF2-40B4-BE49-F238E27FC236}">
                <a16:creationId xmlns:a16="http://schemas.microsoft.com/office/drawing/2014/main" id="{4A77C009-0C48-F0AE-1DFA-66EEBE64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98" y="364843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Ai modeling - Free icons">
            <a:extLst>
              <a:ext uri="{FF2B5EF4-FFF2-40B4-BE49-F238E27FC236}">
                <a16:creationId xmlns:a16="http://schemas.microsoft.com/office/drawing/2014/main" id="{81CD7098-F1F7-B89A-D9BD-365C05254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98" y="4472865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Database - Free seo and web icons">
            <a:extLst>
              <a:ext uri="{FF2B5EF4-FFF2-40B4-BE49-F238E27FC236}">
                <a16:creationId xmlns:a16="http://schemas.microsoft.com/office/drawing/2014/main" id="{4C754A05-9A4E-B6BA-906B-F5B48BDFB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98" y="406065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89E977D-A625-D45C-1989-0B5E55523DE9}"/>
              </a:ext>
            </a:extLst>
          </p:cNvPr>
          <p:cNvSpPr txBox="1"/>
          <p:nvPr/>
        </p:nvSpPr>
        <p:spPr>
          <a:xfrm>
            <a:off x="914979" y="3695720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/>
              <a:t>Código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307FC3-E230-2D59-A495-D581597299A1}"/>
              </a:ext>
            </a:extLst>
          </p:cNvPr>
          <p:cNvSpPr txBox="1"/>
          <p:nvPr/>
        </p:nvSpPr>
        <p:spPr>
          <a:xfrm>
            <a:off x="938098" y="4089748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Dado</a:t>
            </a:r>
            <a:endParaRPr lang="pt-BR" sz="12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A92BA-D607-A6EB-75F9-D0F3EF5B5A47}"/>
              </a:ext>
            </a:extLst>
          </p:cNvPr>
          <p:cNvSpPr txBox="1"/>
          <p:nvPr/>
        </p:nvSpPr>
        <p:spPr>
          <a:xfrm>
            <a:off x="938098" y="4568513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Modelo</a:t>
            </a:r>
            <a:endParaRPr lang="pt-BR" sz="1200" noProof="0" dirty="0"/>
          </a:p>
        </p:txBody>
      </p:sp>
      <p:sp>
        <p:nvSpPr>
          <p:cNvPr id="33" name="Curved Right Arrow 32">
            <a:extLst>
              <a:ext uri="{FF2B5EF4-FFF2-40B4-BE49-F238E27FC236}">
                <a16:creationId xmlns:a16="http://schemas.microsoft.com/office/drawing/2014/main" id="{9E441139-737F-9AD0-DEAF-8C4ED96A38B5}"/>
              </a:ext>
            </a:extLst>
          </p:cNvPr>
          <p:cNvSpPr/>
          <p:nvPr/>
        </p:nvSpPr>
        <p:spPr>
          <a:xfrm rot="16200000">
            <a:off x="2491869" y="4070933"/>
            <a:ext cx="468000" cy="2202138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B02E9-657A-2DE0-C4FC-9F9A22D8B204}"/>
              </a:ext>
            </a:extLst>
          </p:cNvPr>
          <p:cNvSpPr txBox="1"/>
          <p:nvPr/>
        </p:nvSpPr>
        <p:spPr>
          <a:xfrm>
            <a:off x="2370558" y="5472241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 err="1"/>
              <a:t>dvc</a:t>
            </a:r>
            <a:r>
              <a:rPr lang="pt-BR" sz="1200" noProof="0" dirty="0"/>
              <a:t> </a:t>
            </a:r>
            <a:r>
              <a:rPr lang="pt-BR" sz="1200" noProof="0" dirty="0" err="1"/>
              <a:t>init</a:t>
            </a:r>
            <a:endParaRPr lang="pt-BR" sz="1200" noProof="0" dirty="0"/>
          </a:p>
        </p:txBody>
      </p:sp>
      <p:pic>
        <p:nvPicPr>
          <p:cNvPr id="37" name="Picture 18" descr="Code - Free computer icons">
            <a:extLst>
              <a:ext uri="{FF2B5EF4-FFF2-40B4-BE49-F238E27FC236}">
                <a16:creationId xmlns:a16="http://schemas.microsoft.com/office/drawing/2014/main" id="{EA416ADB-A412-23D8-F931-E2CADE063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957" y="365405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0" descr="Ai modeling - Free icons">
            <a:extLst>
              <a:ext uri="{FF2B5EF4-FFF2-40B4-BE49-F238E27FC236}">
                <a16:creationId xmlns:a16="http://schemas.microsoft.com/office/drawing/2014/main" id="{B526EE89-D2FE-D639-F1B2-A08A91764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617" y="4479333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4" descr="Database - Free seo and web icons">
            <a:extLst>
              <a:ext uri="{FF2B5EF4-FFF2-40B4-BE49-F238E27FC236}">
                <a16:creationId xmlns:a16="http://schemas.microsoft.com/office/drawing/2014/main" id="{92A6C4A1-5A7E-29C2-979C-D9FABFBE9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957" y="406626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E9620D-39BD-D68A-3EBD-EB01F410517F}"/>
              </a:ext>
            </a:extLst>
          </p:cNvPr>
          <p:cNvSpPr txBox="1"/>
          <p:nvPr/>
        </p:nvSpPr>
        <p:spPr>
          <a:xfrm>
            <a:off x="4633838" y="3701332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/>
              <a:t>Código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FFD74-DDFE-FFB0-3A28-14F4F5BFDD37}"/>
              </a:ext>
            </a:extLst>
          </p:cNvPr>
          <p:cNvSpPr txBox="1"/>
          <p:nvPr/>
        </p:nvSpPr>
        <p:spPr>
          <a:xfrm>
            <a:off x="4656957" y="4095360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Dado</a:t>
            </a:r>
            <a:endParaRPr lang="pt-BR" sz="1200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BF6431-7FF4-01E8-B20C-B49B169B0C9A}"/>
              </a:ext>
            </a:extLst>
          </p:cNvPr>
          <p:cNvSpPr txBox="1"/>
          <p:nvPr/>
        </p:nvSpPr>
        <p:spPr>
          <a:xfrm>
            <a:off x="4656957" y="4574125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Modelo</a:t>
            </a:r>
            <a:endParaRPr lang="pt-BR" sz="1200" noProof="0" dirty="0"/>
          </a:p>
        </p:txBody>
      </p:sp>
      <p:pic>
        <p:nvPicPr>
          <p:cNvPr id="1050" name="Picture 26" descr="Vector Folder Icon 439792 Vector Art at Vecteezy">
            <a:extLst>
              <a:ext uri="{FF2B5EF4-FFF2-40B4-BE49-F238E27FC236}">
                <a16:creationId xmlns:a16="http://schemas.microsoft.com/office/drawing/2014/main" id="{1EFB1193-F3D0-9466-4057-28B28E620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675" y="3629605"/>
            <a:ext cx="402167" cy="4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C4AA9DC-E4BE-9995-2898-8898132679A7}"/>
              </a:ext>
            </a:extLst>
          </p:cNvPr>
          <p:cNvSpPr txBox="1"/>
          <p:nvPr/>
        </p:nvSpPr>
        <p:spPr>
          <a:xfrm>
            <a:off x="3367685" y="3685486"/>
            <a:ext cx="91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/>
              <a:t>.</a:t>
            </a:r>
            <a:r>
              <a:rPr lang="pt-BR" sz="1200" noProof="0" dirty="0" err="1"/>
              <a:t>dvc</a:t>
            </a:r>
            <a:r>
              <a:rPr lang="pt-BR" sz="1200" noProof="0" dirty="0"/>
              <a:t>/cache</a:t>
            </a:r>
          </a:p>
        </p:txBody>
      </p:sp>
      <p:pic>
        <p:nvPicPr>
          <p:cNvPr id="44" name="Picture 26" descr="Vector Folder Icon 439792 Vector Art at Vecteezy">
            <a:extLst>
              <a:ext uri="{FF2B5EF4-FFF2-40B4-BE49-F238E27FC236}">
                <a16:creationId xmlns:a16="http://schemas.microsoft.com/office/drawing/2014/main" id="{3790DAC7-0CC9-A69F-656C-010567DDD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610" y="4028960"/>
            <a:ext cx="402167" cy="4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BB6F5CB-A0AE-8E18-956A-D4D6BB684039}"/>
              </a:ext>
            </a:extLst>
          </p:cNvPr>
          <p:cNvSpPr txBox="1"/>
          <p:nvPr/>
        </p:nvSpPr>
        <p:spPr>
          <a:xfrm>
            <a:off x="3395620" y="4084841"/>
            <a:ext cx="830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/>
              <a:t>.</a:t>
            </a:r>
            <a:r>
              <a:rPr lang="pt-BR" sz="1200" noProof="0" dirty="0" err="1"/>
              <a:t>dvc</a:t>
            </a:r>
            <a:endParaRPr lang="pt-BR" sz="1200" noProof="0" dirty="0"/>
          </a:p>
        </p:txBody>
      </p:sp>
      <p:pic>
        <p:nvPicPr>
          <p:cNvPr id="1052" name="Picture 28" descr="Gear - Free construction and tools icons">
            <a:extLst>
              <a:ext uri="{FF2B5EF4-FFF2-40B4-BE49-F238E27FC236}">
                <a16:creationId xmlns:a16="http://schemas.microsoft.com/office/drawing/2014/main" id="{F0EC1888-A917-B6CE-311F-A0F91B6A1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180" y="2908026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5EEF2F6-4E18-51A4-404C-4163028F3D85}"/>
              </a:ext>
            </a:extLst>
          </p:cNvPr>
          <p:cNvSpPr txBox="1"/>
          <p:nvPr/>
        </p:nvSpPr>
        <p:spPr>
          <a:xfrm>
            <a:off x="3297180" y="2976191"/>
            <a:ext cx="1635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/>
              <a:t>Staging</a:t>
            </a:r>
            <a:r>
              <a:rPr lang="pt-BR" sz="1200" dirty="0"/>
              <a:t> Area (Local)</a:t>
            </a:r>
            <a:endParaRPr lang="pt-BR" sz="1200" noProof="0" dirty="0"/>
          </a:p>
        </p:txBody>
      </p:sp>
      <p:sp>
        <p:nvSpPr>
          <p:cNvPr id="47" name="Curved Right Arrow 46">
            <a:extLst>
              <a:ext uri="{FF2B5EF4-FFF2-40B4-BE49-F238E27FC236}">
                <a16:creationId xmlns:a16="http://schemas.microsoft.com/office/drawing/2014/main" id="{2BCC31FE-BF84-0043-C4A5-D41E8361DDCD}"/>
              </a:ext>
            </a:extLst>
          </p:cNvPr>
          <p:cNvSpPr/>
          <p:nvPr/>
        </p:nvSpPr>
        <p:spPr>
          <a:xfrm rot="16200000">
            <a:off x="5754623" y="4070933"/>
            <a:ext cx="468000" cy="2202138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040A28-706E-A0D0-008A-86E5CC794D07}"/>
              </a:ext>
            </a:extLst>
          </p:cNvPr>
          <p:cNvSpPr txBox="1"/>
          <p:nvPr/>
        </p:nvSpPr>
        <p:spPr>
          <a:xfrm>
            <a:off x="5633312" y="5472241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/>
              <a:t>dvc</a:t>
            </a:r>
            <a:r>
              <a:rPr lang="pt-BR" sz="1200" dirty="0"/>
              <a:t> </a:t>
            </a:r>
            <a:r>
              <a:rPr lang="pt-BR" sz="1200" dirty="0" err="1"/>
              <a:t>add</a:t>
            </a:r>
            <a:endParaRPr lang="pt-BR" sz="1200" noProof="0" dirty="0"/>
          </a:p>
        </p:txBody>
      </p:sp>
      <p:pic>
        <p:nvPicPr>
          <p:cNvPr id="49" name="Picture 24" descr="Database - Free seo and web icons">
            <a:extLst>
              <a:ext uri="{FF2B5EF4-FFF2-40B4-BE49-F238E27FC236}">
                <a16:creationId xmlns:a16="http://schemas.microsoft.com/office/drawing/2014/main" id="{5FC37D54-B03B-BF6B-2F43-A63E784E3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34" y="36204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1D0940D-7D53-4851-D22F-CDCBB342334F}"/>
              </a:ext>
            </a:extLst>
          </p:cNvPr>
          <p:cNvSpPr txBox="1"/>
          <p:nvPr/>
        </p:nvSpPr>
        <p:spPr>
          <a:xfrm>
            <a:off x="6577934" y="3649566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v1</a:t>
            </a:r>
            <a:endParaRPr lang="pt-BR" sz="1200" noProof="0" dirty="0"/>
          </a:p>
        </p:txBody>
      </p:sp>
      <p:pic>
        <p:nvPicPr>
          <p:cNvPr id="51" name="Picture 24" descr="Database - Free seo and web icons">
            <a:extLst>
              <a:ext uri="{FF2B5EF4-FFF2-40B4-BE49-F238E27FC236}">
                <a16:creationId xmlns:a16="http://schemas.microsoft.com/office/drawing/2014/main" id="{4519E231-7FA4-7740-9CCF-30DDCFD21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34" y="407662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A0524F8-64DF-DA37-C3C3-DEE28E9C7420}"/>
              </a:ext>
            </a:extLst>
          </p:cNvPr>
          <p:cNvSpPr txBox="1"/>
          <p:nvPr/>
        </p:nvSpPr>
        <p:spPr>
          <a:xfrm>
            <a:off x="6577934" y="4105721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v2</a:t>
            </a:r>
            <a:endParaRPr lang="pt-BR" sz="1200" noProof="0" dirty="0"/>
          </a:p>
        </p:txBody>
      </p:sp>
      <p:pic>
        <p:nvPicPr>
          <p:cNvPr id="53" name="Picture 24" descr="Database - Free seo and web icons">
            <a:extLst>
              <a:ext uri="{FF2B5EF4-FFF2-40B4-BE49-F238E27FC236}">
                <a16:creationId xmlns:a16="http://schemas.microsoft.com/office/drawing/2014/main" id="{B29B03F4-BC60-6130-9F00-7B661208D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34" y="453380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FFC0E3B-22ED-0140-6A2E-74CEA57CEB72}"/>
              </a:ext>
            </a:extLst>
          </p:cNvPr>
          <p:cNvSpPr txBox="1"/>
          <p:nvPr/>
        </p:nvSpPr>
        <p:spPr>
          <a:xfrm>
            <a:off x="6577934" y="4562896"/>
            <a:ext cx="71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v3</a:t>
            </a:r>
            <a:endParaRPr lang="pt-BR" sz="1200" noProof="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ECBB99-F363-3A40-2FE6-FC7E6DA1BCB9}"/>
              </a:ext>
            </a:extLst>
          </p:cNvPr>
          <p:cNvCxnSpPr>
            <a:cxnSpLocks/>
          </p:cNvCxnSpPr>
          <p:nvPr/>
        </p:nvCxnSpPr>
        <p:spPr>
          <a:xfrm flipV="1">
            <a:off x="7947378" y="3004671"/>
            <a:ext cx="0" cy="221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rved Right Arrow 55">
            <a:extLst>
              <a:ext uri="{FF2B5EF4-FFF2-40B4-BE49-F238E27FC236}">
                <a16:creationId xmlns:a16="http://schemas.microsoft.com/office/drawing/2014/main" id="{0053AB00-96F6-442B-C6CA-A47596EAE134}"/>
              </a:ext>
            </a:extLst>
          </p:cNvPr>
          <p:cNvSpPr/>
          <p:nvPr/>
        </p:nvSpPr>
        <p:spPr>
          <a:xfrm rot="16200000">
            <a:off x="7760614" y="4544967"/>
            <a:ext cx="468000" cy="1270406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25E4D0-A1F7-206B-92B8-7567AD8B5232}"/>
              </a:ext>
            </a:extLst>
          </p:cNvPr>
          <p:cNvSpPr txBox="1"/>
          <p:nvPr/>
        </p:nvSpPr>
        <p:spPr>
          <a:xfrm>
            <a:off x="7532656" y="5467771"/>
            <a:ext cx="829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/>
              <a:t>dvc</a:t>
            </a:r>
            <a:r>
              <a:rPr lang="pt-BR" sz="1200" dirty="0"/>
              <a:t> </a:t>
            </a:r>
            <a:r>
              <a:rPr lang="pt-BR" sz="1200" dirty="0" err="1"/>
              <a:t>push</a:t>
            </a:r>
            <a:endParaRPr lang="pt-BR" sz="1200" noProof="0" dirty="0"/>
          </a:p>
        </p:txBody>
      </p:sp>
      <p:pic>
        <p:nvPicPr>
          <p:cNvPr id="1054" name="Picture 30" descr="Gemini 1.5 Pro | NaviGator AI">
            <a:extLst>
              <a:ext uri="{FF2B5EF4-FFF2-40B4-BE49-F238E27FC236}">
                <a16:creationId xmlns:a16="http://schemas.microsoft.com/office/drawing/2014/main" id="{7F17E435-F6FE-C35E-01B9-E4E2D48E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019" y="3919864"/>
            <a:ext cx="492708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8" descr="Gear - Free construction and tools icons">
            <a:extLst>
              <a:ext uri="{FF2B5EF4-FFF2-40B4-BE49-F238E27FC236}">
                <a16:creationId xmlns:a16="http://schemas.microsoft.com/office/drawing/2014/main" id="{2706C1E4-3F8B-B2E7-99AE-217E66DA2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52" y="290224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3A67759-B365-4EC4-6ACC-65740D07853C}"/>
              </a:ext>
            </a:extLst>
          </p:cNvPr>
          <p:cNvSpPr txBox="1"/>
          <p:nvPr/>
        </p:nvSpPr>
        <p:spPr>
          <a:xfrm>
            <a:off x="6512152" y="2970406"/>
            <a:ext cx="1635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/>
              <a:t>Staging</a:t>
            </a:r>
            <a:r>
              <a:rPr lang="pt-BR" sz="1200" dirty="0"/>
              <a:t> Area (Local)</a:t>
            </a:r>
            <a:endParaRPr lang="pt-BR" sz="1200" noProof="0" dirty="0"/>
          </a:p>
        </p:txBody>
      </p:sp>
      <p:pic>
        <p:nvPicPr>
          <p:cNvPr id="1056" name="Picture 32" descr="Request: Amazon S3 · Issue #2687 · simple-icons/simple-icons">
            <a:extLst>
              <a:ext uri="{FF2B5EF4-FFF2-40B4-BE49-F238E27FC236}">
                <a16:creationId xmlns:a16="http://schemas.microsoft.com/office/drawing/2014/main" id="{A6B90D84-CDD3-EAC4-72CC-1231320D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817" y="3776752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Azure Blob Storage - Data Collection at Scale | Cribl">
            <a:extLst>
              <a:ext uri="{FF2B5EF4-FFF2-40B4-BE49-F238E27FC236}">
                <a16:creationId xmlns:a16="http://schemas.microsoft.com/office/drawing/2014/main" id="{1A390BAB-FF2C-C3CD-A21E-1E98ED501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269" y="4500423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loud Computing Icon SVG Vector &amp; PNG Free Download | UXWing">
            <a:extLst>
              <a:ext uri="{FF2B5EF4-FFF2-40B4-BE49-F238E27FC236}">
                <a16:creationId xmlns:a16="http://schemas.microsoft.com/office/drawing/2014/main" id="{D31F7C62-8C60-5EDF-68EB-D803E0B04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712" y="2946300"/>
            <a:ext cx="301042" cy="3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9E1FC8E-E6D6-9A32-83D9-1F6CBC872BEA}"/>
              </a:ext>
            </a:extLst>
          </p:cNvPr>
          <p:cNvSpPr txBox="1"/>
          <p:nvPr/>
        </p:nvSpPr>
        <p:spPr>
          <a:xfrm>
            <a:off x="8388820" y="2953458"/>
            <a:ext cx="2075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noProof="0" dirty="0"/>
              <a:t>Dado </a:t>
            </a:r>
            <a:r>
              <a:rPr lang="pt-BR" sz="1200" noProof="0" dirty="0" err="1"/>
              <a:t>versionado</a:t>
            </a:r>
            <a:r>
              <a:rPr lang="pt-BR" sz="1200" noProof="0" dirty="0"/>
              <a:t> na </a:t>
            </a:r>
            <a:r>
              <a:rPr lang="pt-BR" sz="1200" noProof="0" dirty="0" err="1"/>
              <a:t>núvem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33941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C5BE-AB7D-7B25-DE6F-AE54D19C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41C620-1FCA-63D7-DB23-9C34113A0AED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06B5B1-BA36-C8D3-57A0-E8405C6DDDB4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DAC9715A-026B-BBB9-A04B-7639BF594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68B9C3-D17F-77F4-1CCD-01FB876EB2DE}"/>
              </a:ext>
            </a:extLst>
          </p:cNvPr>
          <p:cNvCxnSpPr/>
          <p:nvPr/>
        </p:nvCxnSpPr>
        <p:spPr>
          <a:xfrm>
            <a:off x="342901" y="986469"/>
            <a:ext cx="11521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714178-8F38-BA16-9F25-A152B06185AE}"/>
              </a:ext>
            </a:extLst>
          </p:cNvPr>
          <p:cNvSpPr txBox="1"/>
          <p:nvPr/>
        </p:nvSpPr>
        <p:spPr>
          <a:xfrm>
            <a:off x="5431687" y="526264"/>
            <a:ext cx="132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Kubernetes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46812D-273D-B5FD-775A-CAF99618CBE8}"/>
              </a:ext>
            </a:extLst>
          </p:cNvPr>
          <p:cNvGrpSpPr/>
          <p:nvPr/>
        </p:nvGrpSpPr>
        <p:grpSpPr>
          <a:xfrm>
            <a:off x="1356178" y="2046842"/>
            <a:ext cx="2940755" cy="2645783"/>
            <a:chOff x="1004711" y="1828800"/>
            <a:chExt cx="2940755" cy="264578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2EA0706-102D-119D-EF07-2D6793604FB2}"/>
                </a:ext>
              </a:extLst>
            </p:cNvPr>
            <p:cNvSpPr/>
            <p:nvPr/>
          </p:nvSpPr>
          <p:spPr>
            <a:xfrm>
              <a:off x="1004711" y="1828800"/>
              <a:ext cx="1399822" cy="1264356"/>
            </a:xfrm>
            <a:prstGeom prst="roundRect">
              <a:avLst/>
            </a:prstGeom>
            <a:noFill/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3F11005-AB5B-7EA3-B131-D28464F43F3D}"/>
                </a:ext>
              </a:extLst>
            </p:cNvPr>
            <p:cNvSpPr/>
            <p:nvPr/>
          </p:nvSpPr>
          <p:spPr>
            <a:xfrm>
              <a:off x="2545644" y="1828800"/>
              <a:ext cx="1399822" cy="1264356"/>
            </a:xfrm>
            <a:prstGeom prst="roundRect">
              <a:avLst/>
            </a:prstGeom>
            <a:noFill/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9F8439D-329F-ACB6-ADA9-231BE32D71AB}"/>
                </a:ext>
              </a:extLst>
            </p:cNvPr>
            <p:cNvSpPr/>
            <p:nvPr/>
          </p:nvSpPr>
          <p:spPr>
            <a:xfrm>
              <a:off x="1004711" y="3210227"/>
              <a:ext cx="1399822" cy="1264356"/>
            </a:xfrm>
            <a:prstGeom prst="roundRect">
              <a:avLst/>
            </a:prstGeom>
            <a:noFill/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01163B7-3B61-C27E-6BF3-92A35395929A}"/>
                </a:ext>
              </a:extLst>
            </p:cNvPr>
            <p:cNvSpPr/>
            <p:nvPr/>
          </p:nvSpPr>
          <p:spPr>
            <a:xfrm>
              <a:off x="2545644" y="3194241"/>
              <a:ext cx="1399822" cy="1264356"/>
            </a:xfrm>
            <a:prstGeom prst="roundRect">
              <a:avLst/>
            </a:prstGeom>
            <a:noFill/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D35FB8-8D8E-9EA7-1E1D-170211DD0A22}"/>
                </a:ext>
              </a:extLst>
            </p:cNvPr>
            <p:cNvSpPr txBox="1"/>
            <p:nvPr/>
          </p:nvSpPr>
          <p:spPr>
            <a:xfrm>
              <a:off x="2994524" y="2276312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dirty="0"/>
                <a:t>VM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F6E674-14C0-FA41-AF73-A861E0B30812}"/>
                </a:ext>
              </a:extLst>
            </p:cNvPr>
            <p:cNvSpPr txBox="1"/>
            <p:nvPr/>
          </p:nvSpPr>
          <p:spPr>
            <a:xfrm>
              <a:off x="1453591" y="2292298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dirty="0"/>
                <a:t>VM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DBB9A8A-CA00-C263-762E-913DB4884679}"/>
                </a:ext>
              </a:extLst>
            </p:cNvPr>
            <p:cNvSpPr txBox="1"/>
            <p:nvPr/>
          </p:nvSpPr>
          <p:spPr>
            <a:xfrm>
              <a:off x="1453591" y="3657739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dirty="0"/>
                <a:t>VM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F88F1B-2CDA-F59D-3435-47C2919AAA0D}"/>
                </a:ext>
              </a:extLst>
            </p:cNvPr>
            <p:cNvSpPr txBox="1"/>
            <p:nvPr/>
          </p:nvSpPr>
          <p:spPr>
            <a:xfrm>
              <a:off x="2994524" y="3657739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dirty="0"/>
                <a:t>VM</a:t>
              </a:r>
            </a:p>
          </p:txBody>
        </p:sp>
      </p:grpSp>
      <p:sp>
        <p:nvSpPr>
          <p:cNvPr id="26" name="Right Arrow 25">
            <a:extLst>
              <a:ext uri="{FF2B5EF4-FFF2-40B4-BE49-F238E27FC236}">
                <a16:creationId xmlns:a16="http://schemas.microsoft.com/office/drawing/2014/main" id="{1D984EBF-8D4A-5521-112B-C4A8A9E6CAC3}"/>
              </a:ext>
            </a:extLst>
          </p:cNvPr>
          <p:cNvSpPr/>
          <p:nvPr/>
        </p:nvSpPr>
        <p:spPr>
          <a:xfrm>
            <a:off x="4900890" y="2939294"/>
            <a:ext cx="3714044" cy="5729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88F0184-4478-C17F-7260-3CC7872351B1}"/>
              </a:ext>
            </a:extLst>
          </p:cNvPr>
          <p:cNvSpPr/>
          <p:nvPr/>
        </p:nvSpPr>
        <p:spPr>
          <a:xfrm>
            <a:off x="9049557" y="2008474"/>
            <a:ext cx="1399822" cy="2629797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9226" name="Picture 10" descr="Docker color icon in PNG, SVG">
            <a:extLst>
              <a:ext uri="{FF2B5EF4-FFF2-40B4-BE49-F238E27FC236}">
                <a16:creationId xmlns:a16="http://schemas.microsoft.com/office/drawing/2014/main" id="{3CF53824-53FB-2507-654B-8AEF8F82E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779" y="2160330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 descr="Docker color icon in PNG, SVG">
            <a:extLst>
              <a:ext uri="{FF2B5EF4-FFF2-40B4-BE49-F238E27FC236}">
                <a16:creationId xmlns:a16="http://schemas.microsoft.com/office/drawing/2014/main" id="{0A7525F0-A9AB-2B1A-BBB5-C40F70311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15" y="2679020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Docker color icon in PNG, SVG">
            <a:extLst>
              <a:ext uri="{FF2B5EF4-FFF2-40B4-BE49-F238E27FC236}">
                <a16:creationId xmlns:a16="http://schemas.microsoft.com/office/drawing/2014/main" id="{C3694951-A887-0022-99B0-94DC0B0BB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340" y="2360981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Docker color icon in PNG, SVG">
            <a:extLst>
              <a:ext uri="{FF2B5EF4-FFF2-40B4-BE49-F238E27FC236}">
                <a16:creationId xmlns:a16="http://schemas.microsoft.com/office/drawing/2014/main" id="{88BA3D63-4964-0071-CA87-AF2860EE2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732" y="3002160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Docker color icon in PNG, SVG">
            <a:extLst>
              <a:ext uri="{FF2B5EF4-FFF2-40B4-BE49-F238E27FC236}">
                <a16:creationId xmlns:a16="http://schemas.microsoft.com/office/drawing/2014/main" id="{D22743E2-929B-9846-ACD0-6B245D882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444" y="3289315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Docker color icon in PNG, SVG">
            <a:extLst>
              <a:ext uri="{FF2B5EF4-FFF2-40B4-BE49-F238E27FC236}">
                <a16:creationId xmlns:a16="http://schemas.microsoft.com/office/drawing/2014/main" id="{D6FECB4C-5E5A-8D9C-8F73-B4C94891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241" y="3586557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0" descr="Docker color icon in PNG, SVG">
            <a:extLst>
              <a:ext uri="{FF2B5EF4-FFF2-40B4-BE49-F238E27FC236}">
                <a16:creationId xmlns:a16="http://schemas.microsoft.com/office/drawing/2014/main" id="{DD14EBBA-0E5F-6F41-5D5A-5D90D6BD3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465" y="3998503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Docker color icon in PNG, SVG">
            <a:extLst>
              <a:ext uri="{FF2B5EF4-FFF2-40B4-BE49-F238E27FC236}">
                <a16:creationId xmlns:a16="http://schemas.microsoft.com/office/drawing/2014/main" id="{8D5FB3B2-52FD-103D-5F47-5CBCA719D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860" y="4156392"/>
            <a:ext cx="369330" cy="3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81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F151-2238-8151-4404-B4AC24EA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B8DB32-B271-4517-821B-9D3F30BEB4A5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67F7A-0BC3-3F31-34C0-B689F601E49F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1444CCEE-2823-0900-D4F9-AA3DF3FDB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BE8EAC-532A-C62B-5C6B-83E54EAB1430}"/>
              </a:ext>
            </a:extLst>
          </p:cNvPr>
          <p:cNvCxnSpPr/>
          <p:nvPr/>
        </p:nvCxnSpPr>
        <p:spPr>
          <a:xfrm>
            <a:off x="342901" y="986469"/>
            <a:ext cx="11521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220" name="Picture 4" descr="Docker Logo Icons for Your Projects">
            <a:extLst>
              <a:ext uri="{FF2B5EF4-FFF2-40B4-BE49-F238E27FC236}">
                <a16:creationId xmlns:a16="http://schemas.microsoft.com/office/drawing/2014/main" id="{F3C67215-5CA1-1812-68EC-56AAFACC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39" y="209093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Kubernetes Logo and symbol, meaning, history, PNG, brand">
            <a:extLst>
              <a:ext uri="{FF2B5EF4-FFF2-40B4-BE49-F238E27FC236}">
                <a16:creationId xmlns:a16="http://schemas.microsoft.com/office/drawing/2014/main" id="{2D153284-D6EC-32F5-24DD-BF3D27313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38" y="3321931"/>
            <a:ext cx="96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1C653-E536-DDBB-9F86-00406D21F38C}"/>
              </a:ext>
            </a:extLst>
          </p:cNvPr>
          <p:cNvSpPr txBox="1"/>
          <p:nvPr/>
        </p:nvSpPr>
        <p:spPr>
          <a:xfrm>
            <a:off x="857939" y="1242933"/>
            <a:ext cx="1047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Docker e Kubernetes </a:t>
            </a:r>
            <a:r>
              <a:rPr lang="en-US" dirty="0" err="1"/>
              <a:t>são</a:t>
            </a:r>
            <a:r>
              <a:rPr lang="en-US" dirty="0"/>
              <a:t> ferramentas </a:t>
            </a:r>
            <a:r>
              <a:rPr lang="en-US" dirty="0" err="1"/>
              <a:t>complementares</a:t>
            </a:r>
            <a:r>
              <a:rPr lang="en-US" dirty="0"/>
              <a:t>!</a:t>
            </a:r>
            <a:endParaRPr lang="en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45A73-C216-8642-59AE-E81EB36BDEB6}"/>
              </a:ext>
            </a:extLst>
          </p:cNvPr>
          <p:cNvSpPr txBox="1"/>
          <p:nvPr/>
        </p:nvSpPr>
        <p:spPr>
          <a:xfrm>
            <a:off x="4803088" y="549833"/>
            <a:ext cx="258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Docker x Kubernetes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544EB-7186-88F6-8517-47F6B362B9C9}"/>
              </a:ext>
            </a:extLst>
          </p:cNvPr>
          <p:cNvSpPr txBox="1"/>
          <p:nvPr/>
        </p:nvSpPr>
        <p:spPr>
          <a:xfrm>
            <a:off x="1607939" y="2176272"/>
            <a:ext cx="10473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Cria</a:t>
            </a:r>
            <a:r>
              <a:rPr lang="en-US" dirty="0"/>
              <a:t> imagens e </a:t>
            </a:r>
            <a:r>
              <a:rPr lang="en-US" dirty="0" err="1"/>
              <a:t>executa</a:t>
            </a:r>
            <a:r>
              <a:rPr lang="en-US" dirty="0"/>
              <a:t> containers.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Como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crio</a:t>
            </a:r>
            <a:r>
              <a:rPr lang="en-US" dirty="0"/>
              <a:t> e </a:t>
            </a:r>
            <a:r>
              <a:rPr lang="en-US" dirty="0" err="1"/>
              <a:t>rodo</a:t>
            </a:r>
            <a:r>
              <a:rPr lang="en-US" dirty="0"/>
              <a:t> um container da </a:t>
            </a:r>
            <a:r>
              <a:rPr lang="en-US" dirty="0" err="1"/>
              <a:t>minha</a:t>
            </a:r>
            <a:r>
              <a:rPr lang="en-US" dirty="0"/>
              <a:t> API?</a:t>
            </a:r>
            <a:endParaRPr lang="en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CA0A4-3625-7FED-4267-0A506FFC4574}"/>
              </a:ext>
            </a:extLst>
          </p:cNvPr>
          <p:cNvSpPr txBox="1"/>
          <p:nvPr/>
        </p:nvSpPr>
        <p:spPr>
          <a:xfrm>
            <a:off x="1607938" y="3147289"/>
            <a:ext cx="907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Gerencia</a:t>
            </a:r>
            <a:r>
              <a:rPr lang="en-US" dirty="0"/>
              <a:t> </a:t>
            </a:r>
            <a:r>
              <a:rPr lang="en-US" dirty="0" err="1"/>
              <a:t>aplicações</a:t>
            </a:r>
            <a:r>
              <a:rPr lang="en-US" dirty="0"/>
              <a:t> </a:t>
            </a:r>
            <a:r>
              <a:rPr lang="en-US" dirty="0" err="1"/>
              <a:t>containerizadas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Como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mantenho</a:t>
            </a:r>
            <a:r>
              <a:rPr lang="en-US" dirty="0"/>
              <a:t> 5 containers da </a:t>
            </a:r>
            <a:r>
              <a:rPr lang="en-US" dirty="0" err="1"/>
              <a:t>minha</a:t>
            </a:r>
            <a:r>
              <a:rPr lang="en-US" dirty="0"/>
              <a:t> API </a:t>
            </a:r>
            <a:r>
              <a:rPr lang="en-US" dirty="0" err="1"/>
              <a:t>rodando</a:t>
            </a:r>
            <a:r>
              <a:rPr lang="en-US" dirty="0"/>
              <a:t>, </a:t>
            </a:r>
            <a:r>
              <a:rPr lang="en-US" dirty="0" err="1"/>
              <a:t>atualizo</a:t>
            </a:r>
            <a:r>
              <a:rPr lang="en-US" dirty="0"/>
              <a:t> a </a:t>
            </a:r>
            <a:r>
              <a:rPr lang="en-US" dirty="0" err="1"/>
              <a:t>versão</a:t>
            </a:r>
            <a:r>
              <a:rPr lang="en-US" dirty="0"/>
              <a:t>, </a:t>
            </a:r>
            <a:r>
              <a:rPr lang="en-US" dirty="0" err="1"/>
              <a:t>exponho</a:t>
            </a:r>
            <a:r>
              <a:rPr lang="en-US" dirty="0"/>
              <a:t> para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externo</a:t>
            </a:r>
            <a:r>
              <a:rPr lang="en-US" dirty="0"/>
              <a:t> e </a:t>
            </a:r>
            <a:r>
              <a:rPr lang="en-US" dirty="0" err="1"/>
              <a:t>reinicio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se </a:t>
            </a:r>
            <a:r>
              <a:rPr lang="en-US" dirty="0" err="1"/>
              <a:t>falhar</a:t>
            </a:r>
            <a:r>
              <a:rPr lang="en-US" dirty="0"/>
              <a:t>?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280137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EE068-F78C-E19B-5455-A8BA682D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3D5571-234F-20D6-86F4-805655382DCA}"/>
              </a:ext>
            </a:extLst>
          </p:cNvPr>
          <p:cNvSpPr/>
          <p:nvPr/>
        </p:nvSpPr>
        <p:spPr>
          <a:xfrm>
            <a:off x="0" y="0"/>
            <a:ext cx="12192000" cy="345291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89E9A5-217A-6A8C-B11A-9E899A57F8BA}"/>
              </a:ext>
            </a:extLst>
          </p:cNvPr>
          <p:cNvSpPr/>
          <p:nvPr/>
        </p:nvSpPr>
        <p:spPr>
          <a:xfrm>
            <a:off x="0" y="6590270"/>
            <a:ext cx="12189600" cy="252000"/>
          </a:xfrm>
          <a:prstGeom prst="rect">
            <a:avLst/>
          </a:prstGeom>
          <a:solidFill>
            <a:srgbClr val="EE175C"/>
          </a:solidFill>
          <a:ln>
            <a:solidFill>
              <a:srgbClr val="EE1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19" name="Picture 2" descr="FIAPP – Apps no Google Play">
            <a:extLst>
              <a:ext uri="{FF2B5EF4-FFF2-40B4-BE49-F238E27FC236}">
                <a16:creationId xmlns:a16="http://schemas.microsoft.com/office/drawing/2014/main" id="{57554150-7129-893F-E3B4-526DFEF29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429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23B75D-F8AB-B2A6-D3BA-2560156FA402}"/>
              </a:ext>
            </a:extLst>
          </p:cNvPr>
          <p:cNvCxnSpPr/>
          <p:nvPr/>
        </p:nvCxnSpPr>
        <p:spPr>
          <a:xfrm>
            <a:off x="342901" y="986469"/>
            <a:ext cx="11521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B49DDA-F024-D7F8-5AC8-B674C21C963C}"/>
              </a:ext>
            </a:extLst>
          </p:cNvPr>
          <p:cNvSpPr txBox="1"/>
          <p:nvPr/>
        </p:nvSpPr>
        <p:spPr>
          <a:xfrm>
            <a:off x="4812049" y="481214"/>
            <a:ext cx="258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Conceitos importantes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9348E7-9D8A-8191-5855-98B36E80E475}"/>
              </a:ext>
            </a:extLst>
          </p:cNvPr>
          <p:cNvGrpSpPr/>
          <p:nvPr/>
        </p:nvGrpSpPr>
        <p:grpSpPr>
          <a:xfrm>
            <a:off x="358582" y="1156881"/>
            <a:ext cx="8906933" cy="1754326"/>
            <a:chOff x="519289" y="1614922"/>
            <a:chExt cx="8906933" cy="1754326"/>
          </a:xfrm>
        </p:grpSpPr>
        <p:pic>
          <p:nvPicPr>
            <p:cNvPr id="11266" name="Picture 2" descr="Cérebro - ícones de saúde e médico grátis">
              <a:extLst>
                <a:ext uri="{FF2B5EF4-FFF2-40B4-BE49-F238E27FC236}">
                  <a16:creationId xmlns:a16="http://schemas.microsoft.com/office/drawing/2014/main" id="{1701B717-251C-207B-857A-CEAB6ED28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89" y="1693790"/>
              <a:ext cx="262012" cy="262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DDDDF59-760A-CE43-C34F-9F3237107009}"/>
                </a:ext>
              </a:extLst>
            </p:cNvPr>
            <p:cNvSpPr txBox="1"/>
            <p:nvPr/>
          </p:nvSpPr>
          <p:spPr>
            <a:xfrm>
              <a:off x="781301" y="1614922"/>
              <a:ext cx="864492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err="1"/>
                <a:t>Control</a:t>
              </a:r>
              <a:r>
                <a:rPr lang="pt-BR" b="1" dirty="0"/>
                <a:t> Plane</a:t>
              </a:r>
            </a:p>
            <a:p>
              <a:endParaRPr lang="pt-BR" dirty="0"/>
            </a:p>
            <a:p>
              <a:r>
                <a:rPr lang="en-US" dirty="0"/>
                <a:t>Ele </a:t>
              </a:r>
              <a:r>
                <a:rPr lang="en-US" dirty="0" err="1"/>
                <a:t>é</a:t>
              </a:r>
              <a:r>
                <a:rPr lang="en-US" dirty="0"/>
                <a:t> </a:t>
              </a:r>
              <a:r>
                <a:rPr lang="en-US" dirty="0" err="1"/>
                <a:t>responsável</a:t>
              </a:r>
              <a:r>
                <a:rPr lang="en-US" dirty="0"/>
                <a:t> </a:t>
              </a:r>
              <a:r>
                <a:rPr lang="en-US" dirty="0" err="1"/>
                <a:t>por</a:t>
              </a:r>
              <a:r>
                <a:rPr lang="en-US" dirty="0"/>
                <a:t> </a:t>
              </a:r>
              <a:r>
                <a:rPr lang="en-US" b="1" dirty="0" err="1"/>
                <a:t>controlar</a:t>
              </a:r>
              <a:r>
                <a:rPr lang="en-US" b="1" dirty="0"/>
                <a:t> o cluster</a:t>
              </a:r>
              <a:r>
                <a:rPr lang="en-US" dirty="0"/>
                <a:t>, </a:t>
              </a:r>
              <a:r>
                <a:rPr lang="en-US" dirty="0" err="1"/>
                <a:t>tomar</a:t>
              </a:r>
              <a:r>
                <a:rPr lang="en-US" dirty="0"/>
                <a:t> </a:t>
              </a:r>
              <a:r>
                <a:rPr lang="en-US" dirty="0" err="1"/>
                <a:t>decisões</a:t>
              </a:r>
              <a:r>
                <a:rPr lang="en-US" dirty="0"/>
                <a:t> e </a:t>
              </a:r>
              <a:r>
                <a:rPr lang="en-US" dirty="0" err="1"/>
                <a:t>garantir</a:t>
              </a:r>
              <a:r>
                <a:rPr lang="en-US" dirty="0"/>
                <a:t> que </a:t>
              </a:r>
              <a:r>
                <a:rPr lang="en-US" dirty="0" err="1"/>
                <a:t>tudo</a:t>
              </a:r>
              <a:r>
                <a:rPr lang="en-US" dirty="0"/>
                <a:t> </a:t>
              </a:r>
              <a:r>
                <a:rPr lang="en-US" dirty="0" err="1"/>
                <a:t>esteja</a:t>
              </a:r>
              <a:r>
                <a:rPr lang="en-US" dirty="0"/>
                <a:t> </a:t>
              </a:r>
              <a:r>
                <a:rPr lang="en-US" dirty="0" err="1"/>
                <a:t>rodando</a:t>
              </a:r>
              <a:r>
                <a:rPr lang="en-US" dirty="0"/>
                <a:t> </a:t>
              </a:r>
              <a:r>
                <a:rPr lang="en-US" dirty="0" err="1"/>
                <a:t>conforme</a:t>
              </a:r>
              <a:r>
                <a:rPr lang="en-US" dirty="0"/>
                <a:t> o </a:t>
              </a:r>
              <a:r>
                <a:rPr lang="en-US" dirty="0" err="1"/>
                <a:t>estado</a:t>
              </a:r>
              <a:r>
                <a:rPr lang="en-US" dirty="0"/>
                <a:t> </a:t>
              </a:r>
              <a:r>
                <a:rPr lang="en-US" dirty="0" err="1"/>
                <a:t>desejado</a:t>
              </a:r>
              <a:r>
                <a:rPr lang="en-US" dirty="0"/>
                <a:t>. Ele </a:t>
              </a:r>
              <a:r>
                <a:rPr lang="en-US" dirty="0" err="1"/>
                <a:t>recebe</a:t>
              </a:r>
              <a:r>
                <a:rPr lang="en-US" dirty="0"/>
                <a:t> a </a:t>
              </a:r>
              <a:r>
                <a:rPr lang="en-US" dirty="0" err="1"/>
                <a:t>solicitação</a:t>
              </a:r>
              <a:r>
                <a:rPr lang="en-US" dirty="0"/>
                <a:t>, </a:t>
              </a:r>
              <a:r>
                <a:rPr lang="en-US" dirty="0" err="1"/>
                <a:t>valida</a:t>
              </a:r>
              <a:r>
                <a:rPr lang="en-US" dirty="0"/>
                <a:t>, </a:t>
              </a:r>
              <a:r>
                <a:rPr lang="en-US" dirty="0" err="1"/>
                <a:t>armazena</a:t>
              </a:r>
              <a:r>
                <a:rPr lang="en-US" dirty="0"/>
                <a:t> o </a:t>
              </a:r>
              <a:r>
                <a:rPr lang="en-US" dirty="0" err="1"/>
                <a:t>estado</a:t>
              </a:r>
              <a:r>
                <a:rPr lang="en-US" dirty="0"/>
                <a:t> </a:t>
              </a:r>
              <a:r>
                <a:rPr lang="en-US" dirty="0" err="1"/>
                <a:t>desejado</a:t>
              </a:r>
              <a:r>
                <a:rPr lang="en-US" dirty="0"/>
                <a:t> e </a:t>
              </a:r>
              <a:r>
                <a:rPr lang="en-US" dirty="0" err="1"/>
                <a:t>aciona</a:t>
              </a:r>
              <a:r>
                <a:rPr lang="en-US" dirty="0"/>
                <a:t> </a:t>
              </a:r>
              <a:r>
                <a:rPr lang="en-US" dirty="0" err="1"/>
                <a:t>os</a:t>
              </a:r>
              <a:r>
                <a:rPr lang="en-US" dirty="0"/>
                <a:t> outros </a:t>
              </a:r>
              <a:r>
                <a:rPr lang="en-US" dirty="0" err="1"/>
                <a:t>componentes</a:t>
              </a:r>
              <a:r>
                <a:rPr lang="en-US" dirty="0"/>
                <a:t> para </a:t>
              </a:r>
              <a:r>
                <a:rPr lang="en-US" dirty="0" err="1"/>
                <a:t>executar</a:t>
              </a:r>
              <a:r>
                <a:rPr lang="en-US" dirty="0"/>
                <a:t> Aquilo (API Server, </a:t>
              </a:r>
              <a:r>
                <a:rPr lang="en-US" dirty="0" err="1"/>
                <a:t>etcd</a:t>
              </a:r>
              <a:r>
                <a:rPr lang="en-US" dirty="0"/>
                <a:t>, scheduler, )</a:t>
              </a:r>
              <a:endParaRPr lang="en-BR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7200B5-A973-A6EA-E9C0-47A7A02E166C}"/>
              </a:ext>
            </a:extLst>
          </p:cNvPr>
          <p:cNvGrpSpPr/>
          <p:nvPr/>
        </p:nvGrpSpPr>
        <p:grpSpPr>
          <a:xfrm>
            <a:off x="199257" y="2911207"/>
            <a:ext cx="9066258" cy="1477328"/>
            <a:chOff x="199257" y="2911207"/>
            <a:chExt cx="9066258" cy="1477328"/>
          </a:xfrm>
        </p:grpSpPr>
        <p:pic>
          <p:nvPicPr>
            <p:cNvPr id="11268" name="Picture 4" descr="Split Icon Vector Art, Icons, and Graphics for Free Download">
              <a:extLst>
                <a:ext uri="{FF2B5EF4-FFF2-40B4-BE49-F238E27FC236}">
                  <a16:creationId xmlns:a16="http://schemas.microsoft.com/office/drawing/2014/main" id="{45091B17-EA09-EBD7-183F-3ABE1A21C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199257" y="3003203"/>
              <a:ext cx="436792" cy="271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E888C5-E848-1BC6-30AE-69B867AD9FB4}"/>
                </a:ext>
              </a:extLst>
            </p:cNvPr>
            <p:cNvSpPr txBox="1"/>
            <p:nvPr/>
          </p:nvSpPr>
          <p:spPr>
            <a:xfrm>
              <a:off x="620594" y="2911207"/>
              <a:ext cx="864492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err="1"/>
                <a:t>Namespaces</a:t>
              </a:r>
              <a:endParaRPr lang="pt-BR" b="1" dirty="0"/>
            </a:p>
            <a:p>
              <a:endParaRPr lang="pt-BR" dirty="0"/>
            </a:p>
            <a:p>
              <a:r>
                <a:rPr lang="en-US" dirty="0"/>
                <a:t>O </a:t>
              </a:r>
              <a:r>
                <a:rPr lang="en-US" b="1" dirty="0"/>
                <a:t>Namespace</a:t>
              </a:r>
              <a:r>
                <a:rPr lang="en-US" dirty="0"/>
                <a:t> </a:t>
              </a:r>
              <a:r>
                <a:rPr lang="en-US" dirty="0" err="1"/>
                <a:t>é</a:t>
              </a:r>
              <a:r>
                <a:rPr lang="en-US" dirty="0"/>
                <a:t> </a:t>
              </a:r>
              <a:r>
                <a:rPr lang="en-US" dirty="0" err="1"/>
                <a:t>uma</a:t>
              </a:r>
              <a:r>
                <a:rPr lang="en-US" dirty="0"/>
                <a:t> forma de </a:t>
              </a:r>
              <a:r>
                <a:rPr lang="en-US" dirty="0" err="1"/>
                <a:t>dividir</a:t>
              </a:r>
              <a:r>
                <a:rPr lang="en-US" dirty="0"/>
                <a:t> </a:t>
              </a:r>
              <a:r>
                <a:rPr lang="en-US" dirty="0" err="1"/>
                <a:t>logicamente</a:t>
              </a:r>
              <a:r>
                <a:rPr lang="en-US" dirty="0"/>
                <a:t> o cluster.</a:t>
              </a:r>
            </a:p>
            <a:p>
              <a:r>
                <a:rPr lang="en-US" dirty="0"/>
                <a:t>Ele </a:t>
              </a:r>
              <a:r>
                <a:rPr lang="en-US" dirty="0" err="1"/>
                <a:t>funciona</a:t>
              </a:r>
              <a:r>
                <a:rPr lang="en-US" dirty="0"/>
                <a:t> </a:t>
              </a:r>
              <a:r>
                <a:rPr lang="en-US" dirty="0" err="1"/>
                <a:t>como</a:t>
              </a:r>
              <a:r>
                <a:rPr lang="en-US" dirty="0"/>
                <a:t> </a:t>
              </a:r>
              <a:r>
                <a:rPr lang="en-US" dirty="0" err="1"/>
                <a:t>uma</a:t>
              </a:r>
              <a:r>
                <a:rPr lang="en-US" dirty="0"/>
                <a:t> “pasta”, “</a:t>
              </a:r>
              <a:r>
                <a:rPr lang="en-US" dirty="0" err="1"/>
                <a:t>ambiente</a:t>
              </a:r>
              <a:r>
                <a:rPr lang="en-US" dirty="0"/>
                <a:t>” </a:t>
              </a:r>
              <a:r>
                <a:rPr lang="en-US" dirty="0" err="1"/>
                <a:t>ou</a:t>
              </a:r>
              <a:r>
                <a:rPr lang="en-US" dirty="0"/>
                <a:t> “</a:t>
              </a:r>
              <a:r>
                <a:rPr lang="en-US" dirty="0" err="1"/>
                <a:t>área</a:t>
              </a:r>
              <a:r>
                <a:rPr lang="en-US" dirty="0"/>
                <a:t> </a:t>
              </a:r>
              <a:r>
                <a:rPr lang="en-US" dirty="0" err="1"/>
                <a:t>isolada</a:t>
              </a:r>
              <a:r>
                <a:rPr lang="en-US" dirty="0"/>
                <a:t>” </a:t>
              </a:r>
              <a:r>
                <a:rPr lang="en-US" dirty="0" err="1"/>
                <a:t>dentro</a:t>
              </a:r>
              <a:r>
                <a:rPr lang="en-US" dirty="0"/>
                <a:t> do Kubernetes.</a:t>
              </a:r>
            </a:p>
            <a:p>
              <a:r>
                <a:rPr lang="en-US" dirty="0" err="1"/>
                <a:t>Você</a:t>
              </a:r>
              <a:r>
                <a:rPr lang="en-US" dirty="0"/>
                <a:t> </a:t>
              </a:r>
              <a:r>
                <a:rPr lang="en-US" dirty="0" err="1"/>
                <a:t>pode</a:t>
              </a:r>
              <a:r>
                <a:rPr lang="en-US" dirty="0"/>
                <a:t> usar Namespaces para </a:t>
              </a:r>
              <a:r>
                <a:rPr lang="en-US" dirty="0" err="1"/>
                <a:t>separar</a:t>
              </a:r>
              <a:r>
                <a:rPr lang="en-US" dirty="0"/>
                <a:t> </a:t>
              </a:r>
              <a:r>
                <a:rPr lang="en-US" dirty="0" err="1"/>
                <a:t>aplicações</a:t>
              </a:r>
              <a:r>
                <a:rPr lang="en-US" dirty="0"/>
                <a:t>, times </a:t>
              </a:r>
              <a:r>
                <a:rPr lang="en-US" dirty="0" err="1"/>
                <a:t>ou</a:t>
              </a:r>
              <a:r>
                <a:rPr lang="en-US" dirty="0"/>
                <a:t> ambientes.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45DA2D-471C-D2D7-B356-08EC9EE0816C}"/>
              </a:ext>
            </a:extLst>
          </p:cNvPr>
          <p:cNvGrpSpPr/>
          <p:nvPr/>
        </p:nvGrpSpPr>
        <p:grpSpPr>
          <a:xfrm>
            <a:off x="140851" y="4374278"/>
            <a:ext cx="9124663" cy="1477328"/>
            <a:chOff x="140851" y="4374278"/>
            <a:chExt cx="9124663" cy="1477328"/>
          </a:xfrm>
        </p:grpSpPr>
        <p:pic>
          <p:nvPicPr>
            <p:cNvPr id="11270" name="Picture 6" descr="Pods in Kubernetes: Not Just Another Container | by Shasheen Rashmina |  Medium">
              <a:extLst>
                <a:ext uri="{FF2B5EF4-FFF2-40B4-BE49-F238E27FC236}">
                  <a16:creationId xmlns:a16="http://schemas.microsoft.com/office/drawing/2014/main" id="{E3A78976-5CC7-06BC-BDB5-CEE70A401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51" y="4416649"/>
              <a:ext cx="511726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755407-D530-D8F2-ACFB-E9029E255DBD}"/>
                </a:ext>
              </a:extLst>
            </p:cNvPr>
            <p:cNvSpPr txBox="1"/>
            <p:nvPr/>
          </p:nvSpPr>
          <p:spPr>
            <a:xfrm>
              <a:off x="620593" y="4374278"/>
              <a:ext cx="864492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err="1"/>
                <a:t>Pod</a:t>
              </a:r>
              <a:endParaRPr lang="pt-BR" b="1" dirty="0"/>
            </a:p>
            <a:p>
              <a:endParaRPr lang="pt-BR" dirty="0"/>
            </a:p>
            <a:p>
              <a:r>
                <a:rPr lang="en-US" dirty="0"/>
                <a:t>O </a:t>
              </a:r>
              <a:r>
                <a:rPr lang="en-US" b="1" dirty="0"/>
                <a:t>Pod</a:t>
              </a:r>
              <a:r>
                <a:rPr lang="en-US" dirty="0"/>
                <a:t> </a:t>
              </a:r>
              <a:r>
                <a:rPr lang="en-US" dirty="0" err="1"/>
                <a:t>é</a:t>
              </a:r>
              <a:r>
                <a:rPr lang="en-US" dirty="0"/>
                <a:t> a </a:t>
              </a:r>
              <a:r>
                <a:rPr lang="en-US" dirty="0" err="1"/>
                <a:t>menor</a:t>
              </a:r>
              <a:r>
                <a:rPr lang="en-US" dirty="0"/>
                <a:t> </a:t>
              </a:r>
              <a:r>
                <a:rPr lang="en-US" dirty="0" err="1"/>
                <a:t>unidade</a:t>
              </a:r>
              <a:r>
                <a:rPr lang="en-US" dirty="0"/>
                <a:t> de </a:t>
              </a:r>
              <a:r>
                <a:rPr lang="en-US" dirty="0" err="1"/>
                <a:t>execução</a:t>
              </a:r>
              <a:r>
                <a:rPr lang="en-US" dirty="0"/>
                <a:t> do Kubernetes.</a:t>
              </a:r>
            </a:p>
            <a:p>
              <a:r>
                <a:rPr lang="en-US" dirty="0"/>
                <a:t>No Kubernetes, </a:t>
              </a:r>
              <a:r>
                <a:rPr lang="en-US" dirty="0" err="1"/>
                <a:t>você</a:t>
              </a:r>
              <a:r>
                <a:rPr lang="en-US" dirty="0"/>
                <a:t> </a:t>
              </a:r>
              <a:r>
                <a:rPr lang="en-US" dirty="0" err="1"/>
                <a:t>normalmente</a:t>
              </a:r>
              <a:r>
                <a:rPr lang="en-US" dirty="0"/>
                <a:t> </a:t>
              </a:r>
              <a:r>
                <a:rPr lang="en-US" dirty="0" err="1"/>
                <a:t>não</a:t>
              </a:r>
              <a:r>
                <a:rPr lang="en-US" dirty="0"/>
                <a:t> </a:t>
              </a:r>
              <a:r>
                <a:rPr lang="en-US" dirty="0" err="1"/>
                <a:t>roda</a:t>
              </a:r>
              <a:r>
                <a:rPr lang="en-US" dirty="0"/>
                <a:t> um container </a:t>
              </a:r>
              <a:r>
                <a:rPr lang="en-US" dirty="0" err="1"/>
                <a:t>diretamente</a:t>
              </a:r>
              <a:r>
                <a:rPr lang="en-US" dirty="0"/>
                <a:t>. </a:t>
              </a:r>
              <a:r>
                <a:rPr lang="en-US" dirty="0" err="1"/>
                <a:t>Você</a:t>
              </a:r>
              <a:r>
                <a:rPr lang="en-US" dirty="0"/>
                <a:t> </a:t>
              </a:r>
              <a:r>
                <a:rPr lang="en-US" dirty="0" err="1"/>
                <a:t>roda</a:t>
              </a:r>
              <a:r>
                <a:rPr lang="en-US" dirty="0"/>
                <a:t> um </a:t>
              </a:r>
              <a:r>
                <a:rPr lang="en-US" b="1" dirty="0"/>
                <a:t>Pod</a:t>
              </a:r>
              <a:r>
                <a:rPr lang="en-US" dirty="0"/>
                <a:t>, e </a:t>
              </a:r>
              <a:r>
                <a:rPr lang="en-US" dirty="0" err="1"/>
                <a:t>dentro</a:t>
              </a:r>
              <a:r>
                <a:rPr lang="en-US" dirty="0"/>
                <a:t> dele </a:t>
              </a:r>
              <a:r>
                <a:rPr lang="en-US" dirty="0" err="1"/>
                <a:t>existe</a:t>
              </a:r>
              <a:r>
                <a:rPr lang="en-US" dirty="0"/>
                <a:t> um </a:t>
              </a:r>
              <a:r>
                <a:rPr lang="en-US" dirty="0" err="1"/>
                <a:t>ou</a:t>
              </a:r>
              <a:r>
                <a:rPr lang="en-US" dirty="0"/>
                <a:t> </a:t>
              </a:r>
              <a:r>
                <a:rPr lang="en-US" dirty="0" err="1"/>
                <a:t>mais</a:t>
              </a:r>
              <a:r>
                <a:rPr lang="en-US" dirty="0"/>
                <a:t> containers.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552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62352</TotalTime>
  <Words>809</Words>
  <Application>Microsoft Macintosh PowerPoint</Application>
  <PresentationFormat>Widescreen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Grupo de estudos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Santos</dc:creator>
  <cp:lastModifiedBy>Vinícius Santos</cp:lastModifiedBy>
  <cp:revision>11</cp:revision>
  <dcterms:created xsi:type="dcterms:W3CDTF">2026-04-14T15:10:54Z</dcterms:created>
  <dcterms:modified xsi:type="dcterms:W3CDTF">2026-07-02T00:18:46Z</dcterms:modified>
</cp:coreProperties>
</file>